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previstos · acumulado 0:30 ]</a:t>
            </a:r>
          </a:p>
          <a:p/>
          <a:p>
            <a:r>
              <a:t>Xavier. Buenos días. Somos Xavier Griñó e Ivan Sánchez y presentamos TalentPact.</a:t>
            </a:r>
          </a:p>
          <a:p/>
          <a:p>
            <a:r>
              <a:t> </a:t>
            </a:r>
          </a:p>
          <a:p>
            <a:r>
              <a:t>En veinte minutos vamos a defender tres cosas: que el problema que atacamos es real y medible, que la tecnología que hemos construido funciona —y os la vamos a enseñar en vivo—, y que el modelo de negocio se sostiene.</a:t>
            </a:r>
          </a:p>
          <a:p/>
          <a:p>
            <a:r>
              <a:t> </a:t>
            </a:r>
          </a:p>
          <a:p>
            <a:r>
              <a:t>&gt;&gt; Aviso de estructura: hablaremos unos nueve minutos, haremos una demo de seis, y cerraremos con negocio y límites.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[ 0:15 previstos · acumulado 0:45 ]</a:t>
            </a:r>
          </a:p>
          <a:p/>
          <a:p>
            <a:r>
              <a:t>Xavier. Empecemos por el problema, porque todo lo demás depende de que sea real.</a:t>
            </a:r>
          </a:p>
          <a:p/>
          <a:p>
            <a:r>
              <a:t> </a:t>
            </a:r>
          </a:p>
          <a:p>
            <a:r>
              <a:t>El filtro de entrada al mercado laboral sigue siendo un papel que el propio candidato escribe sobre sí mismo, y que nadie comprueba.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previstos · acumulado 1:30 ]</a:t>
            </a:r>
          </a:p>
          <a:p/>
          <a:p>
            <a:r>
              <a:t>Xavier. Cuatro datos. Contratar en Europa cuesta 42 días y 4.700 euros de media.</a:t>
            </a:r>
          </a:p>
          <a:p/>
          <a:p>
            <a:r>
              <a:t> </a:t>
            </a:r>
          </a:p>
          <a:p>
            <a:r>
              <a:t>En España, en 2025, hubo 2,46 millones de vacantes y 4,25 millones de candidatos activos: 56 candidatos por vacante, cuando en 2024 eran 52. La cifra empeora cada año.</a:t>
            </a:r>
          </a:p>
          <a:p/>
          <a:p>
            <a:r>
              <a:t> </a:t>
            </a:r>
          </a:p>
          <a:p>
            <a:r>
              <a:t>Y al mismo tiempo el paro juvenil está en el 24,9 %, el doble de la media europea.</a:t>
            </a:r>
          </a:p>
          <a:p/>
          <a:p>
            <a:r>
              <a:t> </a:t>
            </a:r>
          </a:p>
          <a:p>
            <a:r>
              <a:t>&gt;&gt; Remate: la paradoja es que hay más talento disponible que nunca y menos capacidad que nunca para distinguirlo. El cuello de botella no es la oferta de talento: es el filtro.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previstos · acumulado 2:20 ]</a:t>
            </a:r>
          </a:p>
          <a:p/>
          <a:p>
            <a:r>
              <a:t>Ivan. ¿Por qué ahora? Porque convergen cuatro cosas que hace tres años no estaban juntas.</a:t>
            </a:r>
          </a:p>
          <a:p/>
          <a:p>
            <a:r>
              <a:t> </a:t>
            </a:r>
          </a:p>
          <a:p>
            <a:r>
              <a:t>Una, la saturación crea la demanda de filtro. Dos, la IA se ha vuelto asequible: evaluar una respuesta abierta nos cuesta 1,4 céntimos, y eso lo hemos medido, no estimado.</a:t>
            </a:r>
          </a:p>
          <a:p/>
          <a:p>
            <a:r>
              <a:t> </a:t>
            </a:r>
          </a:p>
          <a:p>
            <a:r>
              <a:t>Tres, el AI Act ya está vigente y clasifica esto como alto riesgo. Eso suele leerse como una barrera; para nosotros es lo contrario: si tu sistema ya es anónimo y trazable, la regulación te separa de quien no lo es.</a:t>
            </a:r>
          </a:p>
          <a:p/>
          <a:p>
            <a:r>
              <a:t> </a:t>
            </a:r>
          </a:p>
          <a:p>
            <a:r>
              <a:t>Y cuatro, el estándar de credenciales verificables —W3C, eIDAS 2.0, la cartera de identidad europea— está madurando justo ahora. Es la base de nuestra capa fintech.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[ 0:12 previstos · acumulado 2:32 ]</a:t>
            </a:r>
          </a:p>
          <a:p/>
          <a:p>
            <a:r>
              <a:t>Ivan. Nuestra respuesta se apoya en tres piezas. Y quiero subrayar que solo tienen sentido juntas: cada una por separado ya existe en el mercado.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previstos · acumulado 3:22 ]</a:t>
            </a:r>
          </a:p>
          <a:p/>
          <a:p>
            <a:r>
              <a:t>Ivan. Primera pieza: el candidato no cuenta lo que sabe, lo resuelve. Retos que replican situaciones laborales reales, corregidos por IA, con un Skill Score explicable criterio a criterio.</a:t>
            </a:r>
          </a:p>
          <a:p/>
          <a:p>
            <a:r>
              <a:t> </a:t>
            </a:r>
          </a:p>
          <a:p>
            <a:r>
              <a:t>Segunda: el perfil es ciego. La empresa ve habilidades y puntuaciones, nunca nombre, edad, género ni foto. Esto no es solo ético: es nuestro principal mecanismo anti-sesgo de cara al AI Act.</a:t>
            </a:r>
          </a:p>
          <a:p/>
          <a:p>
            <a:r>
              <a:t> </a:t>
            </a:r>
          </a:p>
          <a:p>
            <a:r>
              <a:t>Tercera: ese resultado se convierte en un SkillPass, una credencial verificable que pertenece al candidato y que cualquier empresa puede comprobar sin fiarse de nosotros. Es la parte fintech del trabajo y la veremos en detalle.</a:t>
            </a:r>
          </a:p>
          <a:p/>
          <a:p>
            <a:r>
              <a:t> </a:t>
            </a:r>
          </a:p>
          <a:p>
            <a:r>
              <a:t>&gt;&gt; Y el modelo: la empresa paga 49 € solo cuando quiere el contacto. Pago por resultado, sin licencia ni compromiso.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[ 0:15 previstos · acumulado 3:37 ]</a:t>
            </a:r>
          </a:p>
          <a:p/>
          <a:p>
            <a:r>
              <a:t>Ivan. Vamos al núcleo técnico, que es donde está el trabajo del bloque de Data Science e IA.</a:t>
            </a:r>
          </a:p>
          <a:p/>
          <a:p>
            <a:r>
              <a:t> </a:t>
            </a:r>
          </a:p>
          <a:p>
            <a:r>
              <a:t>Todo lo que acabamos de contar descansa en una única pregunta: ¿puede una IA evaluar talento de forma fiable, justa y auditable? Si la respuesta es no, no hay negocio.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previstos · acumulado 4:22 ]</a:t>
            </a:r>
          </a:p>
          <a:p/>
          <a:p>
            <a:r>
              <a:t>Ivan. El problema de ingeniería es este: nuestro catálogo tiene 102 retos radicalmente distintos. Código Python, casos de negocio, negociación, análisis financiero.</a:t>
            </a:r>
          </a:p>
          <a:p/>
          <a:p>
            <a:r>
              <a:t> </a:t>
            </a:r>
          </a:p>
          <a:p>
            <a:r>
              <a:t>La tentación sería hacer un evaluador por tipo de reto, o entrenar modelos especializados. Eso no escala: 102 retos serían 102 piezas de software que mantener.</a:t>
            </a:r>
          </a:p>
          <a:p/>
          <a:p>
            <a:r>
              <a:t> </a:t>
            </a:r>
          </a:p>
          <a:p>
            <a:r>
              <a:t>Lo resolvemos con una arquitectura de cuatro agentes. El Analista interpreta la oferta, el Generador crea el reto y su rúbrica, el Sandbox captura la respuesta. Y el cuarto, el Evaluador, es el que hemos llevado a producción y el que produce la señal de valor del negocio.</a:t>
            </a:r>
          </a:p>
          <a:p/>
          <a:p>
            <a:r>
              <a:t> </a:t>
            </a:r>
          </a:p>
          <a:p>
            <a:r>
              <a:t>&gt;&gt; Puente: la pregunta interesante es cómo un solo evaluador puede con los 102.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previstos · acumulado 5:27 ]</a:t>
            </a:r>
          </a:p>
          <a:p/>
          <a:p>
            <a:r>
              <a:t>Ivan. Aquí está el corazón técnico, y es la aportación de la que estamos más satisfechos: el Dynamic Prompting.</a:t>
            </a:r>
          </a:p>
          <a:p/>
          <a:p>
            <a:r>
              <a:t> </a:t>
            </a:r>
          </a:p>
          <a:p>
            <a:r>
              <a:t>En lugar de programar la lógica de cada reto, buscamos su rúbrica en la base de datos y la inyectamos en tiempo de ejecución dentro del prompt de sistema.</a:t>
            </a:r>
          </a:p>
          <a:p/>
          <a:p>
            <a:r>
              <a:t> </a:t>
            </a:r>
          </a:p>
          <a:p>
            <a:r>
              <a:t>El principio, dicho en una frase: la inteligencia evaluadora no vive en el código, vive en las rúbricas. El código es un pipeline genérico y deliberadamente tonto.</a:t>
            </a:r>
          </a:p>
          <a:p/>
          <a:p>
            <a:r>
              <a:t> </a:t>
            </a:r>
          </a:p>
          <a:p>
            <a:r>
              <a:t>La consecuencia práctica está a la derecha: añadir el reto 103 es insertar una fila JSON. Cero líneas de código, cero modelos nuevos.</a:t>
            </a:r>
          </a:p>
          <a:p/>
          <a:p>
            <a:r>
              <a:t> </a:t>
            </a:r>
          </a:p>
          <a:p>
            <a:r>
              <a:t>Sobre esa base aplicamos tres controles. Chain of Thought obliga al modelo a razonar criterio por criterio antes de puntuar — eso es lo que hace la evaluación auditable. Constitutional AI mete cláusulas de equidad explícitas. Y temperatura cero garantiza que el mismo input dé el mismo score.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previstos · acumulado 6:37 ]</a:t>
            </a:r>
          </a:p>
          <a:p/>
          <a:p>
            <a:r>
              <a:t>Xavier. Esta es la tabla que más nos importa, porque son datos medidos en ejecuciones reales, no proyecciones.</a:t>
            </a:r>
          </a:p>
          <a:p/>
          <a:p>
            <a:r>
              <a:t> </a:t>
            </a:r>
          </a:p>
          <a:p>
            <a:r>
              <a:t>Cumplimos cuatro objetivos con holgura. El coste es 1,4 céntimos por evaluación frente al objetivo de cuatro. La detección de prompt injection es del 100 %. Y la capacidad de discriminación es de 83 puntos: el motor separa una respuesta senior de un 85 de un intento de manipulación que puntúa 2.</a:t>
            </a:r>
          </a:p>
          <a:p/>
          <a:p>
            <a:r>
              <a:t> </a:t>
            </a:r>
          </a:p>
          <a:p>
            <a:r>
              <a:t>Y ahora lo que no cumplimos, que preferimos decirlo nosotros. La latencia está fuera de objetivo: 17-20 segundos medidos en local sin streaming. No es un límite arquitectónico, es una optimización pendiente.</a:t>
            </a:r>
          </a:p>
          <a:p/>
          <a:p>
            <a:r>
              <a:t> </a:t>
            </a:r>
          </a:p>
          <a:p>
            <a:r>
              <a:t>&gt;&gt; Y esta es la importante: no hemos validado el score contra evaluadores humanos. La kappa de Cohen está sin medir. Es nuestro principal riesgo de calidad y el siguiente hito del producto. Preferimos presentarlo así antes que afirmar una fiabilidad que no hemos demostrado.</a:t>
            </a:r>
          </a:p>
          <a:p/>
          <a:p>
            <a:r>
              <a:t> </a:t>
            </a:r>
          </a:p>
          <a:p>
            <a:r>
              <a:t>Cierre: tres ejercicios por candidato cuestan 4,2 céntimos frente a 49 € de ingreso. La IA no condiciona el margen.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previstos · acumulado 7:22 ]</a:t>
            </a:r>
          </a:p>
          <a:p/>
          <a:p>
            <a:r>
              <a:t>Xavier. Y como esto es un sistema de alto riesgo según el Anexo III del AI Act, lo hemos tratado como tal desde el diseño, no como un trámite posterior.</a:t>
            </a:r>
          </a:p>
          <a:p/>
          <a:p>
            <a:r>
              <a:t> </a:t>
            </a:r>
          </a:p>
          <a:p>
            <a:r>
              <a:t>Supervisión humana: el score ordena el pool, pero no descarta a nadie. La decisión sigue siendo de la empresa.</a:t>
            </a:r>
          </a:p>
          <a:p/>
          <a:p>
            <a:r>
              <a:t> </a:t>
            </a:r>
          </a:p>
          <a:p>
            <a:r>
              <a:t>Explicabilidad: cada nota lleva la justificación de cada criterio, así que es discutible. Un número opaco no lo sería.</a:t>
            </a:r>
          </a:p>
          <a:p/>
          <a:p>
            <a:r>
              <a:t> </a:t>
            </a:r>
          </a:p>
          <a:p>
            <a:r>
              <a:t>Trazabilidad, artículo 12: tenemos un registro de auditoría que guarda la respuesta, los criterios, el feedback, los tokens y el coste real de cada evaluación. Esto os lo vamos a enseñar en la demo.</a:t>
            </a:r>
          </a:p>
          <a:p/>
          <a:p>
            <a:r>
              <a:t> </a:t>
            </a:r>
          </a:p>
          <a:p>
            <a:r>
              <a:t>&gt;&gt; Nos queda pendiente el registro formal ante la base de datos europea y el aviso del artículo 50. Está en el roadmap.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[ 0:15 previstos · acumulado 7:37 ]</a:t>
            </a:r>
          </a:p>
          <a:p/>
          <a:p>
            <a:r>
              <a:t>Ivan. Vamos a la capa fintech, que es el eje de este máster.</a:t>
            </a:r>
          </a:p>
          <a:p/>
          <a:p>
            <a:r>
              <a:t> </a:t>
            </a:r>
          </a:p>
          <a:p>
            <a:r>
              <a:t>Supongamos que la evaluación es buena. Aparece el siguiente problema, que es de confianza: ¿cómo demuestra el candidato ese resultado fuera de TalentPact?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previstos · acumulado 8:22 ]</a:t>
            </a:r>
          </a:p>
          <a:p/>
          <a:p>
            <a:r>
              <a:t>Ivan. Las opciones habituales no sirven. Un PDF lo edita cualquiera. Un perfil de LinkedIn lo escribe el propio candidato: es una declaración, no una prueba. Y un certificado alojado por nosotros obliga a la empresa a confiar en TalentPact y a que TalentPact siga existiendo dentro de cinco años.</a:t>
            </a:r>
          </a:p>
          <a:p/>
          <a:p>
            <a:r>
              <a:t> </a:t>
            </a:r>
          </a:p>
          <a:p>
            <a:r>
              <a:t>La credencial tiene que poder comprobarse sin confiar en quien la emitió.</a:t>
            </a:r>
          </a:p>
          <a:p/>
          <a:p>
            <a:r>
              <a:t> </a:t>
            </a:r>
          </a:p>
          <a:p>
            <a:r>
              <a:t>&gt;&gt; Y quiero ser preciso en esto, porque es donde se cometen los excesos: no usamos blockchain para guardar el currículum ni para emitir un token. La usamos para lo único que hace mejor que una base de datos: dar fe de que un documento existía, con ese contenido exacto, en una fecha concreta, y que desde entonces nadie lo ha tocado. Tampoco nosotros.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previstos · acumulado 9:22 ]</a:t>
            </a:r>
          </a:p>
          <a:p/>
          <a:p>
            <a:r>
              <a:t>Ivan. El mecanismo tiene cuatro pasos. Uno, componemos un JSON con el mejor resultado por habilidad, con las claves en orden estable para que el hash sea reproducible. Dos, calculamos su keccak256: cambia un punto de una nota y cambia la huella entera. Tres, anclamos solo esos 32 bytes en el contrato. Cuatro, cualquiera recalcula la huella del JSON que reciba y la busca en el contrato.</a:t>
            </a:r>
          </a:p>
          <a:p/>
          <a:p>
            <a:r>
              <a:t> </a:t>
            </a:r>
          </a:p>
          <a:p>
            <a:r>
              <a:t>Y aquí está la decisión de diseño que más nos ha costado, que resuelve una tensión real: la blockchain es inmutable y el RGPD exige poder borrar. La resolvemos porque una huella de 32 bytes no es un dato personal, y el CV real vive off-chain en la Unión Europea, donde sí se puede eliminar. Si el candidato ejerce su derecho al olvido, borramos el documento y el hash on-chain queda huérfano: deja de significar nada.</a:t>
            </a:r>
          </a:p>
          <a:p/>
          <a:p>
            <a:r>
              <a:t> </a:t>
            </a:r>
          </a:p>
          <a:p>
            <a:r>
              <a:t>&gt;&gt; Para el candidato esto significa una credencial que le pertenece, que es portable y que sigue siendo válida aunque TalentPact desaparezca.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previstos · acumulado 10:07 ]</a:t>
            </a:r>
          </a:p>
          <a:p/>
          <a:p>
            <a:r>
              <a:t>Ivan. Y esto no es una maqueta. El contrato SkillPassRegistry está desplegado en Ethereum Sepolia, en la dirección que veis, en el bloque 11.523.380. Podéis abrirlo en Etherscan ahora mismo.</a:t>
            </a:r>
          </a:p>
          <a:p/>
          <a:p>
            <a:r>
              <a:t> </a:t>
            </a:r>
          </a:p>
          <a:p>
            <a:r>
              <a:t>Tres precisiones que nos parecen importantes. Por qué Sepolia: nuestra primera opción fue Polygon Amoy, pero sus faucets exigían cripto de mainnet. Sepolia nos permite anclar de verdad a coste cero.</a:t>
            </a:r>
          </a:p>
          <a:p/>
          <a:p>
            <a:r>
              <a:t> </a:t>
            </a:r>
          </a:p>
          <a:p>
            <a:r>
              <a:t>Alcance regulatorio: el SkillPass no es un criptoactivo. No es transferible, no tiene valor de mercado y no hay custodia. MiCA no aplica. Es una credencial, no un token.</a:t>
            </a:r>
          </a:p>
          <a:p/>
          <a:p>
            <a:r>
              <a:t> </a:t>
            </a:r>
          </a:p>
          <a:p>
            <a:r>
              <a:t>&gt;&gt; Y lo decimos claro: es una testnet. El contrato y el patrón son idénticos a los que irían a una L2 en producción, pero no vamos a presentar esto como algo que no 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[ 5:30 previstos · acumulado 15:37 ]</a:t>
            </a:r>
          </a:p>
          <a:p/>
          <a:p>
            <a:r>
              <a:t>&gt;&gt; ◆ CAMBIAR A LA VENTANA DEL NAVEGADOR. Guion detallado en GUION_DEFENSA_20MIN.md, sección DEMO.</a:t>
            </a:r>
          </a:p>
          <a:p/>
          <a:p>
            <a:r>
              <a:t> </a:t>
            </a:r>
          </a:p>
          <a:p>
            <a:r>
              <a:t>Xavier. "Hasta aquí el relato. Ahora os lo enseñamos funcionando."</a:t>
            </a:r>
          </a:p>
          <a:p/>
          <a:p>
            <a:r>
              <a:t> </a:t>
            </a:r>
          </a:p>
          <a:p>
            <a:r>
              <a:t>1 · Candidato (2:00) — Reto → respuesta buena → Skill Score alto con feedback criterio a criterio. Frase clave: "esto no es un if/else: es el modelo leyendo la respuesta contra una rúbrica". Luego una respuesta pobre → nota baja y el motivo.</a:t>
            </a:r>
          </a:p>
          <a:p/>
          <a:p>
            <a:r>
              <a:t> </a:t>
            </a:r>
          </a:p>
          <a:p>
            <a:r>
              <a:t>2 · Seguridad (1:00) — Pegar el ataque de prompt injection. El evaluador lo identifica, lo penaliza y lo dice explícitamente.</a:t>
            </a:r>
          </a:p>
          <a:p/>
          <a:p>
            <a:r>
              <a:t> </a:t>
            </a:r>
          </a:p>
          <a:p>
            <a:r>
              <a:t>3 · SkillPass (2:00) — Sellar la credencial → enlace a Etherscan → abrir verify.html y comprobarla. Después editar una nota del JSON y volver a verificar: deja de validar. Ese contraste es el momento más fuerte de la demo.</a:t>
            </a:r>
          </a:p>
          <a:p/>
          <a:p>
            <a:r>
              <a:t> </a:t>
            </a:r>
          </a:p>
          <a:p>
            <a:r>
              <a:t>4 · Trazabilidad (1:00) — Panel de administración → historial de evaluaciones con el coste real de cada una.</a:t>
            </a:r>
          </a:p>
          <a:p/>
          <a:p>
            <a:r>
              <a:t> </a:t>
            </a:r>
          </a:p>
          <a:p>
            <a:r>
              <a:t>PLAN B si falla la red: SkillPass ya anclado y verify.html en local; PoC en terminal (python poc_evaluator.py).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[ 0:12 previstos · acumulado 15:49 ]</a:t>
            </a:r>
          </a:p>
          <a:p/>
          <a:p>
            <a:r>
              <a:t>Xavier. Vuelvo yo. Ya hemos visto que la tecnología funciona y que es barata. La pregunta que decide el proyecto es otra: ¿alguien paga por esto, y a qué coste de adquisición?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previstos · acumulado 16:49 ]</a:t>
            </a:r>
          </a:p>
          <a:p/>
          <a:p>
            <a:r>
              <a:t>Xavier. Cinco palancas de ingreso, pero la principal es el desbloqueo de contacto a 49 €. Y esa elección es deliberada: 49 € es una decisión que un responsable de RRHH toma sin pasar por el departamento de compras. Vender una licencia de seis mil euros a una pyme es un ciclo de venta de meses.</a:t>
            </a:r>
          </a:p>
          <a:p/>
          <a:p>
            <a:r>
              <a:t> </a:t>
            </a:r>
          </a:p>
          <a:p>
            <a:r>
              <a:t>Los unit economics, a la derecha. Un ratio LTV/CAC de 17,3 en 2027, cuando el umbral sano son 3. Margen bruto del 94 %, porque el COGS es la API de IA y la comisión de Stripe. Y recuperamos el coste de adquisición en mes y medio.</a:t>
            </a:r>
          </a:p>
          <a:p/>
          <a:p>
            <a:r>
              <a:t> </a:t>
            </a:r>
          </a:p>
          <a:p>
            <a:r>
              <a:t>&gt;&gt; La lectura honesta es la de abajo: el problema de este negocio no es la economía unitaria, que es excelente. Es alcanzar volumen. Ahí es donde se juega el break-even.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previstos · acumulado 17:44 ]</a:t>
            </a:r>
          </a:p>
          <a:p/>
          <a:p>
            <a:r>
              <a:t>Xavier. El escenario base a 36 meses. De 24 empresas en 2026 a 284 en 2028, con un ARR de cierre de casi medio millón. Break-even en mayo de 2028, con 230.000 € de capital entre pre-seed y ENISA.</a:t>
            </a:r>
          </a:p>
          <a:p/>
          <a:p>
            <a:r>
              <a:t> </a:t>
            </a:r>
          </a:p>
          <a:p>
            <a:r>
              <a:t>Quiero señalar dos cosas. La primera: 284 empresas es menos del 0,01 % del mercado abordable. El techo de este proyecto no es el tamaño del mercado, es nuestra capacidad de ejecución.</a:t>
            </a:r>
          </a:p>
          <a:p/>
          <a:p>
            <a:r>
              <a:t> </a:t>
            </a:r>
          </a:p>
          <a:p>
            <a:r>
              <a:t>&gt;&gt; Y la segunda, que es la casilla ámbar: donde esto se rompe es el primer año. 2026 son 24 empresas. Si el ritmo de altas no arranca, el resto del modelo simplemente no ocurre. No es una proyección que se autocumpla.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previstos · acumulado 18:39 ]</a:t>
            </a:r>
          </a:p>
          <a:p/>
          <a:p>
            <a:r>
              <a:t>Ivan. Antes de cerrar, los cuatro límites de este trabajo. Preferimos decirlos nosotros.</a:t>
            </a:r>
          </a:p>
          <a:p/>
          <a:p>
            <a:r>
              <a:t> </a:t>
            </a:r>
          </a:p>
          <a:p>
            <a:r>
              <a:t>El principal: el Skill Score no está calibrado contra evaluadores humanos. La IA discrimina bien y es barata, pero hasta que midamos la concordancia con un tribunal no podemos afirmar fiabilidad demostrada. Es el siguiente hito del producto.</a:t>
            </a:r>
          </a:p>
          <a:p/>
          <a:p>
            <a:r>
              <a:t> </a:t>
            </a:r>
          </a:p>
          <a:p>
            <a:r>
              <a:t>Segundo: nuestra validación de mercado es una muestra de treinta personas, autoseleccionada. Mide atención, no disposición a pagar. No tenemos encaje producto-mercado demostrado.</a:t>
            </a:r>
          </a:p>
          <a:p/>
          <a:p>
            <a:r>
              <a:t> </a:t>
            </a:r>
          </a:p>
          <a:p>
            <a:r>
              <a:t>Tercero: hay varianza de ocho a doce puntos entre ejecuciones cuando la rúbrica usa indicadores cualitativos.</a:t>
            </a:r>
          </a:p>
          <a:p/>
          <a:p>
            <a:r>
              <a:t> </a:t>
            </a:r>
          </a:p>
          <a:p>
            <a:r>
              <a:t>Y cuarto: el huevo y la gallina, que es el riesgo estructural de cualquier marketplace y que no se resuelve con tecnología, sino con estrategia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previstos · acumulado 19:19 ]</a:t>
            </a:r>
          </a:p>
          <a:p/>
          <a:p>
            <a:r>
              <a:t>Ivan. Y de ahí sale el roadmap, que está ordenado por lo que desbloquea, no por lo que apetece programar.</a:t>
            </a:r>
          </a:p>
          <a:p/>
          <a:p>
            <a:r>
              <a:t> </a:t>
            </a:r>
          </a:p>
          <a:p>
            <a:r>
              <a:t>Lo primero es la calibración humana. Lo segundo, un segundo evaluador de otro proveedor, que nos da medida de alucinación e independencia de Anthropic. Y en prioridad media, lo de producción: streaming, catálogo completo y llevar el contrato a una L2.</a:t>
            </a:r>
          </a:p>
          <a:p/>
          <a:p>
            <a:r>
              <a:t> </a:t>
            </a:r>
          </a:p>
          <a:p>
            <a:r>
              <a:t>&gt;&gt; La frase que resume el estado del trabajo: lo que hoy es una arquitectura correcta y medida se convierte en un producto defendible el día que un humano confirme sus notas.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[ 0:35 previstos · acumulado 19:54 ]</a:t>
            </a:r>
          </a:p>
          <a:p/>
          <a:p>
            <a:r>
              <a:t>Xavier. Cerramos.</a:t>
            </a:r>
          </a:p>
          <a:p/>
          <a:p>
            <a:r>
              <a:t> </a:t>
            </a:r>
          </a:p>
          <a:p>
            <a:r>
              <a:t>El objetivo de este trabajo era demostrar que se puede evaluar talento de forma fiable, barata y auditable, y convertir el resultado en una credencial que no dependa de nosotros.</a:t>
            </a:r>
          </a:p>
          <a:p/>
          <a:p>
            <a:r>
              <a:t> </a:t>
            </a:r>
          </a:p>
          <a:p>
            <a:r>
              <a:t>Lo hemos medido: 1,4 céntimos por evaluación, 83 puntos de discriminación entre una respuesta senior y un intento de fraude, y el 100 % de los ataques de manipulación detectados.</a:t>
            </a:r>
          </a:p>
          <a:p/>
          <a:p>
            <a:r>
              <a:t> </a:t>
            </a:r>
          </a:p>
          <a:p>
            <a:r>
              <a:t>Y hay un sello que podéis verificar hoy, en un contrato público, sin pedirnos permiso.</a:t>
            </a:r>
          </a:p>
          <a:p/>
          <a:p>
            <a:r>
              <a:t> </a:t>
            </a:r>
          </a:p>
          <a:p>
            <a:r>
              <a:t>&gt;&gt; Lo que queda por delante es la validación humana, y sabemos exactamente cómo hacerla. Muchas gracias — quedamos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566928"/>
            <a:ext cx="10881360" cy="274320"/>
          </a:xfrm>
          <a:prstGeom prst="rect">
            <a:avLst/>
          </a:prstGeom>
          <a:noFill/>
        </p:spPr>
        <p:txBody>
          <a:bodyPr wrap="square" lIns="0" rIns="0" tIns="0" bIns="0" anchor="t">
            <a:spAutoFit/>
          </a:bodyPr>
          <a:lstStyle/>
          <a:p>
            <a:r>
              <a:rPr sz="1400" b="1">
                <a:solidFill>
                  <a:srgbClr val="EAF5F0"/>
                </a:solidFill>
                <a:latin typeface="Calibri Light"/>
              </a:rPr>
              <a:t>talent</a:t>
            </a:r>
            <a:r>
              <a:rPr sz="1400" b="1">
                <a:solidFill>
                  <a:srgbClr val="34D399"/>
                </a:solidFill>
                <a:latin typeface="Calibri Light"/>
              </a:rPr>
              <a:t>pact</a:t>
            </a:r>
          </a:p>
        </p:txBody>
      </p:sp>
      <p:sp>
        <p:nvSpPr>
          <p:cNvPr id="3" name="TextBox 2"/>
          <p:cNvSpPr txBox="1"/>
          <p:nvPr/>
        </p:nvSpPr>
        <p:spPr>
          <a:xfrm>
            <a:off x="658368" y="2057400"/>
            <a:ext cx="9692640" cy="1920240"/>
          </a:xfrm>
          <a:prstGeom prst="rect">
            <a:avLst/>
          </a:prstGeom>
          <a:noFill/>
        </p:spPr>
        <p:txBody>
          <a:bodyPr wrap="square" lIns="0" rIns="0" tIns="0" bIns="0" anchor="t">
            <a:spAutoFit/>
          </a:bodyPr>
          <a:lstStyle/>
          <a:p>
            <a:pPr>
              <a:lnSpc>
                <a:spcPct val="95000"/>
              </a:lnSpc>
            </a:pPr>
            <a:r>
              <a:rPr sz="4800" b="1">
                <a:solidFill>
                  <a:srgbClr val="EAF5F0"/>
                </a:solidFill>
                <a:latin typeface="Calibri Light"/>
              </a:rPr>
              <a:t>Contratar por </a:t>
            </a:r>
            <a:r>
              <a:rPr sz="4800" b="1">
                <a:solidFill>
                  <a:srgbClr val="34D399"/>
                </a:solidFill>
                <a:latin typeface="Calibri Light"/>
              </a:rPr>
              <a:t>habilidades</a:t>
            </a:r>
            <a:r>
              <a:rPr sz="4800" b="1">
                <a:solidFill>
                  <a:srgbClr val="EAF5F0"/>
                </a:solidFill>
                <a:latin typeface="Calibri Light"/>
              </a:rPr>
              <a:t>,
no por currículum.</a:t>
            </a:r>
          </a:p>
        </p:txBody>
      </p:sp>
      <p:sp>
        <p:nvSpPr>
          <p:cNvPr id="4" name="TextBox 3"/>
          <p:cNvSpPr txBox="1"/>
          <p:nvPr/>
        </p:nvSpPr>
        <p:spPr>
          <a:xfrm>
            <a:off x="658368" y="4114800"/>
            <a:ext cx="7680960" cy="82296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Marketplace europeo de talento anónimo: la habilidad se demuestra con retos evaluados por IA y se sella como credencial verificable en blockchain.</a:t>
            </a:r>
          </a:p>
        </p:txBody>
      </p:sp>
      <p:sp>
        <p:nvSpPr>
          <p:cNvPr id="5" name="Rectangle 4"/>
          <p:cNvSpPr/>
          <p:nvPr/>
        </p:nvSpPr>
        <p:spPr>
          <a:xfrm>
            <a:off x="658368" y="5440680"/>
            <a:ext cx="10881360" cy="10972"/>
          </a:xfrm>
          <a:prstGeom prst="rect">
            <a:avLst/>
          </a:prstGeom>
          <a:solidFill>
            <a:srgbClr val="2A50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669280"/>
            <a:ext cx="3566160" cy="640080"/>
          </a:xfrm>
          <a:prstGeom prst="rect">
            <a:avLst/>
          </a:prstGeom>
          <a:noFill/>
        </p:spPr>
        <p:txBody>
          <a:bodyPr wrap="square" lIns="0" rIns="0" tIns="0" bIns="0" anchor="t">
            <a:spAutoFit/>
          </a:bodyPr>
          <a:lstStyle/>
          <a:p>
            <a:pPr algn="l">
              <a:lnSpc>
                <a:spcPct val="100000"/>
              </a:lnSpc>
              <a:spcAft>
                <a:spcPts val="400"/>
              </a:spcAft>
            </a:pPr>
            <a:r>
              <a:rPr sz="850" b="0" spc="140">
                <a:solidFill>
                  <a:srgbClr val="6E9587"/>
                </a:solidFill>
                <a:latin typeface="Consolas"/>
              </a:rPr>
              <a:t>TRABAJO FIN DE MÁSTER</a:t>
            </a:r>
          </a:p>
          <a:p>
            <a:pPr algn="l">
              <a:lnSpc>
                <a:spcPct val="120000"/>
              </a:lnSpc>
              <a:spcAft>
                <a:spcPts val="0"/>
              </a:spcAft>
            </a:pPr>
            <a:r>
              <a:rPr sz="1100" b="1">
                <a:solidFill>
                  <a:srgbClr val="EAF5F0"/>
                </a:solidFill>
                <a:latin typeface="Calibri"/>
              </a:rPr>
              <a:t>Fintech, Mercados Financieros y Blockchain</a:t>
            </a:r>
          </a:p>
        </p:txBody>
      </p:sp>
      <p:sp>
        <p:nvSpPr>
          <p:cNvPr id="7" name="TextBox 6"/>
          <p:cNvSpPr txBox="1"/>
          <p:nvPr/>
        </p:nvSpPr>
        <p:spPr>
          <a:xfrm>
            <a:off x="4407407" y="5669280"/>
            <a:ext cx="3566160" cy="640080"/>
          </a:xfrm>
          <a:prstGeom prst="rect">
            <a:avLst/>
          </a:prstGeom>
          <a:noFill/>
        </p:spPr>
        <p:txBody>
          <a:bodyPr wrap="square" lIns="0" rIns="0" tIns="0" bIns="0" anchor="t">
            <a:spAutoFit/>
          </a:bodyPr>
          <a:lstStyle/>
          <a:p>
            <a:pPr algn="l">
              <a:lnSpc>
                <a:spcPct val="100000"/>
              </a:lnSpc>
              <a:spcAft>
                <a:spcPts val="400"/>
              </a:spcAft>
            </a:pPr>
            <a:r>
              <a:rPr sz="850" b="0" spc="140">
                <a:solidFill>
                  <a:srgbClr val="6E9587"/>
                </a:solidFill>
                <a:latin typeface="Consolas"/>
              </a:rPr>
              <a:t>AUTORES</a:t>
            </a:r>
          </a:p>
          <a:p>
            <a:pPr algn="l">
              <a:lnSpc>
                <a:spcPct val="120000"/>
              </a:lnSpc>
              <a:spcAft>
                <a:spcPts val="0"/>
              </a:spcAft>
            </a:pPr>
            <a:r>
              <a:rPr sz="1100" b="1">
                <a:solidFill>
                  <a:srgbClr val="EAF5F0"/>
                </a:solidFill>
                <a:latin typeface="Calibri"/>
              </a:rPr>
              <a:t>Xavier Griñó · Ivan Sánchez</a:t>
            </a:r>
          </a:p>
        </p:txBody>
      </p:sp>
      <p:sp>
        <p:nvSpPr>
          <p:cNvPr id="8" name="TextBox 7"/>
          <p:cNvSpPr txBox="1"/>
          <p:nvPr/>
        </p:nvSpPr>
        <p:spPr>
          <a:xfrm>
            <a:off x="8156446" y="5669280"/>
            <a:ext cx="3566160" cy="640080"/>
          </a:xfrm>
          <a:prstGeom prst="rect">
            <a:avLst/>
          </a:prstGeom>
          <a:noFill/>
        </p:spPr>
        <p:txBody>
          <a:bodyPr wrap="square" lIns="0" rIns="0" tIns="0" bIns="0" anchor="t">
            <a:spAutoFit/>
          </a:bodyPr>
          <a:lstStyle/>
          <a:p>
            <a:pPr algn="l">
              <a:lnSpc>
                <a:spcPct val="100000"/>
              </a:lnSpc>
              <a:spcAft>
                <a:spcPts val="400"/>
              </a:spcAft>
            </a:pPr>
            <a:r>
              <a:rPr sz="850" b="0" spc="140">
                <a:solidFill>
                  <a:srgbClr val="6E9587"/>
                </a:solidFill>
                <a:latin typeface="Consolas"/>
              </a:rPr>
              <a:t>UNIVERSITAT DE BARCELONA</a:t>
            </a:r>
          </a:p>
          <a:p>
            <a:pPr algn="l">
              <a:lnSpc>
                <a:spcPct val="120000"/>
              </a:lnSpc>
              <a:spcAft>
                <a:spcPts val="0"/>
              </a:spcAft>
            </a:pPr>
            <a:r>
              <a:rPr sz="1100" b="1">
                <a:solidFill>
                  <a:srgbClr val="EAF5F0"/>
                </a:solidFill>
                <a:latin typeface="Calibri"/>
              </a:rPr>
              <a:t>Septiembre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2103120"/>
            <a:ext cx="10881360" cy="274320"/>
          </a:xfrm>
          <a:prstGeom prst="rect">
            <a:avLst/>
          </a:prstGeom>
          <a:noFill/>
        </p:spPr>
        <p:txBody>
          <a:bodyPr wrap="square" lIns="0" rIns="0" tIns="0" bIns="0" anchor="t">
            <a:spAutoFit/>
          </a:bodyPr>
          <a:lstStyle/>
          <a:p>
            <a:pPr algn="l">
              <a:lnSpc>
                <a:spcPct val="100000"/>
              </a:lnSpc>
              <a:spcAft>
                <a:spcPts val="0"/>
              </a:spcAft>
            </a:pPr>
            <a:r>
              <a:rPr sz="1050" b="0" spc="220">
                <a:solidFill>
                  <a:srgbClr val="34D399"/>
                </a:solidFill>
                <a:latin typeface="Consolas"/>
              </a:rPr>
              <a:t>ACTO I</a:t>
            </a:r>
          </a:p>
        </p:txBody>
      </p:sp>
      <p:sp>
        <p:nvSpPr>
          <p:cNvPr id="3" name="TextBox 2"/>
          <p:cNvSpPr txBox="1"/>
          <p:nvPr/>
        </p:nvSpPr>
        <p:spPr>
          <a:xfrm>
            <a:off x="658368" y="2514600"/>
            <a:ext cx="9144000" cy="1051560"/>
          </a:xfrm>
          <a:prstGeom prst="rect">
            <a:avLst/>
          </a:prstGeom>
          <a:noFill/>
        </p:spPr>
        <p:txBody>
          <a:bodyPr wrap="square" lIns="0" rIns="0" tIns="0" bIns="0" anchor="t">
            <a:spAutoFit/>
          </a:bodyPr>
          <a:lstStyle/>
          <a:p>
            <a:pPr>
              <a:lnSpc>
                <a:spcPct val="98000"/>
              </a:lnSpc>
            </a:pPr>
            <a:r>
              <a:rPr sz="4400" b="1">
                <a:solidFill>
                  <a:srgbClr val="EAF5F0"/>
                </a:solidFill>
                <a:latin typeface="Calibri Light"/>
              </a:rPr>
              <a:t>El filtro sigue siendo </a:t>
            </a:r>
            <a:r>
              <a:rPr sz="4400" b="1">
                <a:solidFill>
                  <a:srgbClr val="34D399"/>
                </a:solidFill>
                <a:latin typeface="Calibri Light"/>
              </a:rPr>
              <a:t>un papel.</a:t>
            </a:r>
          </a:p>
        </p:txBody>
      </p:sp>
      <p:sp>
        <p:nvSpPr>
          <p:cNvPr id="4" name="TextBox 3"/>
          <p:cNvSpPr txBox="1"/>
          <p:nvPr/>
        </p:nvSpPr>
        <p:spPr>
          <a:xfrm>
            <a:off x="658368" y="3977639"/>
            <a:ext cx="7863840" cy="73152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Un documento que el candidato escribe sobre sí mismo y que nadie verifica decide quién pasa a la primera entrevista.</a:t>
            </a:r>
          </a:p>
        </p:txBody>
      </p:sp>
      <p:sp>
        <p:nvSpPr>
          <p:cNvPr id="5" name="TextBox 4"/>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EL PROBLEMA</a:t>
            </a:r>
          </a:p>
        </p:txBody>
      </p:sp>
      <p:sp>
        <p:nvSpPr>
          <p:cNvPr id="6" name="TextBox 5"/>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COSTE DEL PROCESO ACTUAL</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Lento, caro y saturado.</a:t>
            </a:r>
          </a:p>
        </p:txBody>
      </p:sp>
      <p:sp>
        <p:nvSpPr>
          <p:cNvPr id="4" name="TextBox 3"/>
          <p:cNvSpPr txBox="1"/>
          <p:nvPr/>
        </p:nvSpPr>
        <p:spPr>
          <a:xfrm>
            <a:off x="658368" y="2286000"/>
            <a:ext cx="2560320" cy="1371600"/>
          </a:xfrm>
          <a:prstGeom prst="rect">
            <a:avLst/>
          </a:prstGeom>
          <a:noFill/>
        </p:spPr>
        <p:txBody>
          <a:bodyPr wrap="square" lIns="0" rIns="0" tIns="0" bIns="0" anchor="t">
            <a:spAutoFit/>
          </a:bodyPr>
          <a:lstStyle/>
          <a:p>
            <a:pPr>
              <a:lnSpc>
                <a:spcPct val="92000"/>
              </a:lnSpc>
            </a:pPr>
            <a:r>
              <a:rPr sz="3800" b="1">
                <a:solidFill>
                  <a:srgbClr val="0B1F1A"/>
                </a:solidFill>
                <a:latin typeface="Calibri Light"/>
              </a:rPr>
              <a:t>42</a:t>
            </a:r>
            <a:r>
              <a:rPr sz="1900" b="1">
                <a:solidFill>
                  <a:srgbClr val="5A6B65"/>
                </a:solidFill>
                <a:latin typeface="Calibri Light"/>
              </a:rPr>
              <a:t> días</a:t>
            </a:r>
          </a:p>
          <a:p>
            <a:pPr algn="l">
              <a:lnSpc>
                <a:spcPct val="125000"/>
              </a:lnSpc>
              <a:spcAft>
                <a:spcPts val="200"/>
              </a:spcAft>
            </a:pPr>
            <a:r>
              <a:rPr sz="1050" b="0">
                <a:solidFill>
                  <a:srgbClr val="5A6B65"/>
                </a:solidFill>
                <a:latin typeface="Calibri"/>
              </a:rPr>
              <a:t>de media para cerrar una contratación</a:t>
            </a:r>
          </a:p>
          <a:p>
            <a:pPr algn="l">
              <a:lnSpc>
                <a:spcPct val="100000"/>
              </a:lnSpc>
              <a:spcAft>
                <a:spcPts val="0"/>
              </a:spcAft>
            </a:pPr>
            <a:r>
              <a:rPr sz="800" b="0">
                <a:solidFill>
                  <a:srgbClr val="8B9A94"/>
                </a:solidFill>
                <a:latin typeface="Consolas"/>
              </a:rPr>
              <a:t>SHRM 2024</a:t>
            </a:r>
          </a:p>
        </p:txBody>
      </p:sp>
      <p:sp>
        <p:nvSpPr>
          <p:cNvPr id="5" name="TextBox 4"/>
          <p:cNvSpPr txBox="1"/>
          <p:nvPr/>
        </p:nvSpPr>
        <p:spPr>
          <a:xfrm>
            <a:off x="3401568" y="2286000"/>
            <a:ext cx="2560320" cy="1371600"/>
          </a:xfrm>
          <a:prstGeom prst="rect">
            <a:avLst/>
          </a:prstGeom>
          <a:noFill/>
        </p:spPr>
        <p:txBody>
          <a:bodyPr wrap="square" lIns="0" rIns="0" tIns="0" bIns="0" anchor="t">
            <a:spAutoFit/>
          </a:bodyPr>
          <a:lstStyle/>
          <a:p>
            <a:pPr>
              <a:lnSpc>
                <a:spcPct val="92000"/>
              </a:lnSpc>
            </a:pPr>
            <a:r>
              <a:rPr sz="3800" b="1">
                <a:solidFill>
                  <a:srgbClr val="0B1F1A"/>
                </a:solidFill>
                <a:latin typeface="Calibri Light"/>
              </a:rPr>
              <a:t>4.700</a:t>
            </a:r>
            <a:r>
              <a:rPr sz="1900" b="1">
                <a:solidFill>
                  <a:srgbClr val="5A6B65"/>
                </a:solidFill>
                <a:latin typeface="Calibri Light"/>
              </a:rPr>
              <a:t> €</a:t>
            </a:r>
          </a:p>
          <a:p>
            <a:pPr algn="l">
              <a:lnSpc>
                <a:spcPct val="125000"/>
              </a:lnSpc>
              <a:spcAft>
                <a:spcPts val="200"/>
              </a:spcAft>
            </a:pPr>
            <a:r>
              <a:rPr sz="1050" b="0">
                <a:solidFill>
                  <a:srgbClr val="5A6B65"/>
                </a:solidFill>
                <a:latin typeface="Calibri"/>
              </a:rPr>
              <a:t>coste medio por contratación</a:t>
            </a:r>
          </a:p>
          <a:p>
            <a:pPr algn="l">
              <a:lnSpc>
                <a:spcPct val="100000"/>
              </a:lnSpc>
              <a:spcAft>
                <a:spcPts val="0"/>
              </a:spcAft>
            </a:pPr>
            <a:r>
              <a:rPr sz="800" b="0">
                <a:solidFill>
                  <a:srgbClr val="8B9A94"/>
                </a:solidFill>
                <a:latin typeface="Consolas"/>
              </a:rPr>
              <a:t>Glassdoor / Adecco</a:t>
            </a:r>
          </a:p>
        </p:txBody>
      </p:sp>
      <p:sp>
        <p:nvSpPr>
          <p:cNvPr id="6" name="TextBox 5"/>
          <p:cNvSpPr txBox="1"/>
          <p:nvPr/>
        </p:nvSpPr>
        <p:spPr>
          <a:xfrm>
            <a:off x="6144768" y="2286000"/>
            <a:ext cx="2560320" cy="1371600"/>
          </a:xfrm>
          <a:prstGeom prst="rect">
            <a:avLst/>
          </a:prstGeom>
          <a:noFill/>
        </p:spPr>
        <p:txBody>
          <a:bodyPr wrap="square" lIns="0" rIns="0" tIns="0" bIns="0" anchor="t">
            <a:spAutoFit/>
          </a:bodyPr>
          <a:lstStyle/>
          <a:p>
            <a:pPr>
              <a:lnSpc>
                <a:spcPct val="92000"/>
              </a:lnSpc>
            </a:pPr>
            <a:r>
              <a:rPr sz="3800" b="1">
                <a:solidFill>
                  <a:srgbClr val="0E7C5A"/>
                </a:solidFill>
                <a:latin typeface="Calibri Light"/>
              </a:rPr>
              <a:t>56</a:t>
            </a:r>
          </a:p>
          <a:p>
            <a:pPr algn="l">
              <a:lnSpc>
                <a:spcPct val="125000"/>
              </a:lnSpc>
              <a:spcAft>
                <a:spcPts val="200"/>
              </a:spcAft>
            </a:pPr>
            <a:r>
              <a:rPr sz="1050" b="0">
                <a:solidFill>
                  <a:srgbClr val="5A6B65"/>
                </a:solidFill>
                <a:latin typeface="Calibri"/>
              </a:rPr>
              <a:t>candidatos por vacante en España</a:t>
            </a:r>
          </a:p>
          <a:p>
            <a:pPr algn="l">
              <a:lnSpc>
                <a:spcPct val="100000"/>
              </a:lnSpc>
              <a:spcAft>
                <a:spcPts val="0"/>
              </a:spcAft>
            </a:pPr>
            <a:r>
              <a:rPr sz="800" b="0">
                <a:solidFill>
                  <a:srgbClr val="8B9A94"/>
                </a:solidFill>
                <a:latin typeface="Consolas"/>
              </a:rPr>
              <a:t>InfoJobs-Esade 2025</a:t>
            </a:r>
          </a:p>
        </p:txBody>
      </p:sp>
      <p:sp>
        <p:nvSpPr>
          <p:cNvPr id="7" name="TextBox 6"/>
          <p:cNvSpPr txBox="1"/>
          <p:nvPr/>
        </p:nvSpPr>
        <p:spPr>
          <a:xfrm>
            <a:off x="8887968" y="2286000"/>
            <a:ext cx="2560320" cy="1371600"/>
          </a:xfrm>
          <a:prstGeom prst="rect">
            <a:avLst/>
          </a:prstGeom>
          <a:noFill/>
        </p:spPr>
        <p:txBody>
          <a:bodyPr wrap="square" lIns="0" rIns="0" tIns="0" bIns="0" anchor="t">
            <a:spAutoFit/>
          </a:bodyPr>
          <a:lstStyle/>
          <a:p>
            <a:pPr>
              <a:lnSpc>
                <a:spcPct val="92000"/>
              </a:lnSpc>
            </a:pPr>
            <a:r>
              <a:rPr sz="3800" b="1">
                <a:solidFill>
                  <a:srgbClr val="0B1F1A"/>
                </a:solidFill>
                <a:latin typeface="Calibri Light"/>
              </a:rPr>
              <a:t>24,9</a:t>
            </a:r>
            <a:r>
              <a:rPr sz="1900" b="1">
                <a:solidFill>
                  <a:srgbClr val="5A6B65"/>
                </a:solidFill>
                <a:latin typeface="Calibri Light"/>
              </a:rPr>
              <a:t> %</a:t>
            </a:r>
          </a:p>
          <a:p>
            <a:pPr algn="l">
              <a:lnSpc>
                <a:spcPct val="125000"/>
              </a:lnSpc>
              <a:spcAft>
                <a:spcPts val="200"/>
              </a:spcAft>
            </a:pPr>
            <a:r>
              <a:rPr sz="1050" b="0">
                <a:solidFill>
                  <a:srgbClr val="5A6B65"/>
                </a:solidFill>
                <a:latin typeface="Calibri"/>
              </a:rPr>
              <a:t>paro juvenil, el doble de la media europea</a:t>
            </a:r>
          </a:p>
          <a:p>
            <a:pPr algn="l">
              <a:lnSpc>
                <a:spcPct val="100000"/>
              </a:lnSpc>
              <a:spcAft>
                <a:spcPts val="0"/>
              </a:spcAft>
            </a:pPr>
            <a:r>
              <a:rPr sz="800" b="0">
                <a:solidFill>
                  <a:srgbClr val="8B9A94"/>
                </a:solidFill>
                <a:latin typeface="Consolas"/>
              </a:rPr>
              <a:t>InfoJobs-Esade 2025</a:t>
            </a:r>
          </a:p>
        </p:txBody>
      </p:sp>
      <p:sp>
        <p:nvSpPr>
          <p:cNvPr id="8" name="Rectangle 7"/>
          <p:cNvSpPr/>
          <p:nvPr/>
        </p:nvSpPr>
        <p:spPr>
          <a:xfrm>
            <a:off x="658368" y="4343400"/>
            <a:ext cx="32004" cy="566928"/>
          </a:xfrm>
          <a:prstGeom prst="rect">
            <a:avLst/>
          </a:prstGeom>
          <a:solidFill>
            <a:srgbClr val="0E7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4315968"/>
            <a:ext cx="8686800" cy="640080"/>
          </a:xfrm>
          <a:prstGeom prst="rect">
            <a:avLst/>
          </a:prstGeom>
          <a:noFill/>
        </p:spPr>
        <p:txBody>
          <a:bodyPr wrap="square" lIns="0" rIns="0" tIns="0" bIns="0" anchor="t">
            <a:spAutoFit/>
          </a:bodyPr>
          <a:lstStyle/>
          <a:p>
            <a:pPr algn="l">
              <a:lnSpc>
                <a:spcPct val="120000"/>
              </a:lnSpc>
              <a:spcAft>
                <a:spcPts val="0"/>
              </a:spcAft>
            </a:pPr>
            <a:r>
              <a:rPr sz="1600" b="1">
                <a:solidFill>
                  <a:srgbClr val="0B1F1A"/>
                </a:solidFill>
                <a:latin typeface="Calibri Light"/>
              </a:rPr>
              <a:t>Hay más talento disponible que nunca y menos capacidad que nunca para distinguirlo.</a:t>
            </a:r>
          </a:p>
        </p:txBody>
      </p:sp>
      <p:sp>
        <p:nvSpPr>
          <p:cNvPr id="10" name="TextBox 9"/>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PROBLEMA</a:t>
            </a:r>
          </a:p>
        </p:txBody>
      </p:sp>
      <p:sp>
        <p:nvSpPr>
          <p:cNvPr id="11" name="TextBox 10"/>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POR QUÉ AHORA Y NO HACE TRES AÑOS</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Cuatro fuerzas que convergen </a:t>
            </a:r>
            <a:r>
              <a:rPr sz="3400" b="1">
                <a:solidFill>
                  <a:srgbClr val="0E7C5A"/>
                </a:solidFill>
                <a:latin typeface="Calibri Light"/>
              </a:rPr>
              <a:t>en 2026.</a:t>
            </a:r>
          </a:p>
        </p:txBody>
      </p:sp>
      <p:sp>
        <p:nvSpPr>
          <p:cNvPr id="4" name="Rounded Rectangle 3"/>
          <p:cNvSpPr/>
          <p:nvPr/>
        </p:nvSpPr>
        <p:spPr>
          <a:xfrm>
            <a:off x="658368" y="2121408"/>
            <a:ext cx="5349240" cy="141732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295144"/>
            <a:ext cx="4946904" cy="110642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DEMANDA DE FILTRO</a:t>
            </a:r>
          </a:p>
          <a:p>
            <a:pPr algn="l">
              <a:lnSpc>
                <a:spcPct val="105000"/>
              </a:lnSpc>
              <a:spcAft>
                <a:spcPts val="500"/>
              </a:spcAft>
            </a:pPr>
            <a:r>
              <a:rPr sz="1300" b="1">
                <a:solidFill>
                  <a:srgbClr val="0B1F1A"/>
                </a:solidFill>
                <a:latin typeface="Calibri Light"/>
              </a:rPr>
              <a:t>El mercado está saturado</a:t>
            </a:r>
          </a:p>
          <a:p>
            <a:pPr algn="l">
              <a:lnSpc>
                <a:spcPct val="128000"/>
              </a:lnSpc>
              <a:spcAft>
                <a:spcPts val="0"/>
              </a:spcAft>
            </a:pPr>
            <a:r>
              <a:rPr sz="1100" b="0">
                <a:solidFill>
                  <a:srgbClr val="2C4740"/>
                </a:solidFill>
                <a:latin typeface="Calibri"/>
              </a:rPr>
              <a:t>56 candidatos por vacante. Las empresas no necesitan más CVs: necesitan una señal fiable de capacidad.</a:t>
            </a:r>
          </a:p>
        </p:txBody>
      </p:sp>
      <p:sp>
        <p:nvSpPr>
          <p:cNvPr id="6" name="Rounded Rectangle 5"/>
          <p:cNvSpPr/>
          <p:nvPr/>
        </p:nvSpPr>
        <p:spPr>
          <a:xfrm>
            <a:off x="6190488" y="2121408"/>
            <a:ext cx="5349240" cy="141732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91656" y="2295144"/>
            <a:ext cx="4946904" cy="110642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VIABILIDAD TÉCNICA</a:t>
            </a:r>
          </a:p>
          <a:p>
            <a:pPr algn="l">
              <a:lnSpc>
                <a:spcPct val="105000"/>
              </a:lnSpc>
              <a:spcAft>
                <a:spcPts val="500"/>
              </a:spcAft>
            </a:pPr>
            <a:r>
              <a:rPr sz="1300" b="1">
                <a:solidFill>
                  <a:srgbClr val="0B1F1A"/>
                </a:solidFill>
                <a:latin typeface="Calibri Light"/>
              </a:rPr>
              <a:t>La IA ya es asequible</a:t>
            </a:r>
          </a:p>
          <a:p>
            <a:pPr algn="l">
              <a:lnSpc>
                <a:spcPct val="128000"/>
              </a:lnSpc>
              <a:spcAft>
                <a:spcPts val="0"/>
              </a:spcAft>
            </a:pPr>
            <a:r>
              <a:rPr sz="1100" b="0">
                <a:solidFill>
                  <a:srgbClr val="2C4740"/>
                </a:solidFill>
                <a:latin typeface="Calibri"/>
              </a:rPr>
              <a:t>Evaluar una respuesta abierta con feedback cuesta hoy 1,4 céntimos, medido en producción. Hace tres años era inviable.</a:t>
            </a:r>
          </a:p>
        </p:txBody>
      </p:sp>
      <p:sp>
        <p:nvSpPr>
          <p:cNvPr id="8" name="Rounded Rectangle 7"/>
          <p:cNvSpPr/>
          <p:nvPr/>
        </p:nvSpPr>
        <p:spPr>
          <a:xfrm>
            <a:off x="658368" y="3694176"/>
            <a:ext cx="5349240" cy="141732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67912"/>
            <a:ext cx="4946904" cy="110642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PRESIÓN REGULATORIA</a:t>
            </a:r>
          </a:p>
          <a:p>
            <a:pPr algn="l">
              <a:lnSpc>
                <a:spcPct val="105000"/>
              </a:lnSpc>
              <a:spcAft>
                <a:spcPts val="500"/>
              </a:spcAft>
            </a:pPr>
            <a:r>
              <a:rPr sz="1300" b="1">
                <a:solidFill>
                  <a:srgbClr val="0B1F1A"/>
                </a:solidFill>
                <a:latin typeface="Calibri Light"/>
              </a:rPr>
              <a:t>El EU AI Act está vigente</a:t>
            </a:r>
          </a:p>
          <a:p>
            <a:pPr algn="l">
              <a:lnSpc>
                <a:spcPct val="128000"/>
              </a:lnSpc>
              <a:spcAft>
                <a:spcPts val="0"/>
              </a:spcAft>
            </a:pPr>
            <a:r>
              <a:rPr sz="1100" b="0">
                <a:solidFill>
                  <a:srgbClr val="2C4740"/>
                </a:solidFill>
                <a:latin typeface="Calibri"/>
              </a:rPr>
              <a:t>Clasifica la contratación asistida por IA como alto riesgo y exige que sea auditable, explicable y no discriminatoria.</a:t>
            </a:r>
          </a:p>
        </p:txBody>
      </p:sp>
      <p:sp>
        <p:nvSpPr>
          <p:cNvPr id="10" name="Rounded Rectangle 9"/>
          <p:cNvSpPr/>
          <p:nvPr/>
        </p:nvSpPr>
        <p:spPr>
          <a:xfrm>
            <a:off x="6190488" y="3694176"/>
            <a:ext cx="5349240" cy="141732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3867912"/>
            <a:ext cx="4946904" cy="110642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ESTÁNDAR EMERGENTE</a:t>
            </a:r>
          </a:p>
          <a:p>
            <a:pPr algn="l">
              <a:lnSpc>
                <a:spcPct val="105000"/>
              </a:lnSpc>
              <a:spcAft>
                <a:spcPts val="500"/>
              </a:spcAft>
            </a:pPr>
            <a:r>
              <a:rPr sz="1300" b="1">
                <a:solidFill>
                  <a:srgbClr val="0B1F1A"/>
                </a:solidFill>
                <a:latin typeface="Calibri Light"/>
              </a:rPr>
              <a:t>Credenciales verificables</a:t>
            </a:r>
          </a:p>
          <a:p>
            <a:pPr algn="l">
              <a:lnSpc>
                <a:spcPct val="128000"/>
              </a:lnSpc>
              <a:spcAft>
                <a:spcPts val="0"/>
              </a:spcAft>
            </a:pPr>
            <a:r>
              <a:rPr sz="1100" b="0">
                <a:solidFill>
                  <a:srgbClr val="2C4740"/>
                </a:solidFill>
                <a:latin typeface="Calibri"/>
              </a:rPr>
              <a:t>W3C Verifiable Credentials, eIDAS 2.0 y la EU Digital Identity Wallet mueven el mercado hacia títulos que el individuo posee.</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PROBLEMA</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2103120"/>
            <a:ext cx="10881360" cy="274320"/>
          </a:xfrm>
          <a:prstGeom prst="rect">
            <a:avLst/>
          </a:prstGeom>
          <a:noFill/>
        </p:spPr>
        <p:txBody>
          <a:bodyPr wrap="square" lIns="0" rIns="0" tIns="0" bIns="0" anchor="t">
            <a:spAutoFit/>
          </a:bodyPr>
          <a:lstStyle/>
          <a:p>
            <a:pPr algn="l">
              <a:lnSpc>
                <a:spcPct val="100000"/>
              </a:lnSpc>
              <a:spcAft>
                <a:spcPts val="0"/>
              </a:spcAft>
            </a:pPr>
            <a:r>
              <a:rPr sz="1050" b="0" spc="220">
                <a:solidFill>
                  <a:srgbClr val="34D399"/>
                </a:solidFill>
                <a:latin typeface="Consolas"/>
              </a:rPr>
              <a:t>ACTO II</a:t>
            </a:r>
          </a:p>
        </p:txBody>
      </p:sp>
      <p:sp>
        <p:nvSpPr>
          <p:cNvPr id="3" name="TextBox 2"/>
          <p:cNvSpPr txBox="1"/>
          <p:nvPr/>
        </p:nvSpPr>
        <p:spPr>
          <a:xfrm>
            <a:off x="658368" y="2514600"/>
            <a:ext cx="9509760" cy="1051560"/>
          </a:xfrm>
          <a:prstGeom prst="rect">
            <a:avLst/>
          </a:prstGeom>
          <a:noFill/>
        </p:spPr>
        <p:txBody>
          <a:bodyPr wrap="square" lIns="0" rIns="0" tIns="0" bIns="0" anchor="t">
            <a:spAutoFit/>
          </a:bodyPr>
          <a:lstStyle/>
          <a:p>
            <a:pPr>
              <a:lnSpc>
                <a:spcPct val="98000"/>
              </a:lnSpc>
            </a:pPr>
            <a:r>
              <a:rPr sz="4200" b="1">
                <a:solidFill>
                  <a:srgbClr val="EAF5F0"/>
                </a:solidFill>
                <a:latin typeface="Calibri Light"/>
              </a:rPr>
              <a:t>Que el talento se </a:t>
            </a:r>
            <a:r>
              <a:rPr sz="4200" b="1">
                <a:solidFill>
                  <a:srgbClr val="34D399"/>
                </a:solidFill>
                <a:latin typeface="Calibri Light"/>
              </a:rPr>
              <a:t>demuestre, no se declare.</a:t>
            </a:r>
          </a:p>
        </p:txBody>
      </p:sp>
      <p:sp>
        <p:nvSpPr>
          <p:cNvPr id="4" name="TextBox 3"/>
          <p:cNvSpPr txBox="1"/>
          <p:nvPr/>
        </p:nvSpPr>
        <p:spPr>
          <a:xfrm>
            <a:off x="658368" y="4206240"/>
            <a:ext cx="8046720" cy="73152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Tres piezas que solo tienen sentido juntas: evaluación por IA, anonimato estructural y una credencial que el candidato posee.</a:t>
            </a:r>
          </a:p>
        </p:txBody>
      </p:sp>
      <p:sp>
        <p:nvSpPr>
          <p:cNvPr id="5" name="TextBox 4"/>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LA SOLUCIÓN</a:t>
            </a:r>
          </a:p>
        </p:txBody>
      </p:sp>
      <p:sp>
        <p:nvSpPr>
          <p:cNvPr id="6" name="TextBox 5"/>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QUÉ ES TALENTPACT</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Un marketplace de habilidades </a:t>
            </a:r>
            <a:r>
              <a:rPr sz="3400" b="1">
                <a:solidFill>
                  <a:srgbClr val="0E7C5A"/>
                </a:solidFill>
                <a:latin typeface="Calibri Light"/>
              </a:rPr>
              <a:t>verificadas.</a:t>
            </a:r>
          </a:p>
        </p:txBody>
      </p:sp>
      <p:sp>
        <p:nvSpPr>
          <p:cNvPr id="4" name="Rounded Rectangle 3"/>
          <p:cNvSpPr/>
          <p:nvPr/>
        </p:nvSpPr>
        <p:spPr>
          <a:xfrm>
            <a:off x="658368" y="2148840"/>
            <a:ext cx="3474720" cy="196596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322576"/>
            <a:ext cx="3072384" cy="165506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PIEZA 1 · EVALUACIÓN</a:t>
            </a:r>
          </a:p>
          <a:p>
            <a:pPr algn="l">
              <a:lnSpc>
                <a:spcPct val="105000"/>
              </a:lnSpc>
              <a:spcAft>
                <a:spcPts val="500"/>
              </a:spcAft>
            </a:pPr>
            <a:r>
              <a:rPr sz="1300" b="1">
                <a:solidFill>
                  <a:srgbClr val="0B1F1A"/>
                </a:solidFill>
                <a:latin typeface="Calibri Light"/>
              </a:rPr>
              <a:t>Retos prácticos corregidos por IA</a:t>
            </a:r>
          </a:p>
          <a:p>
            <a:pPr algn="l">
              <a:lnSpc>
                <a:spcPct val="128000"/>
              </a:lnSpc>
              <a:spcAft>
                <a:spcPts val="0"/>
              </a:spcAft>
            </a:pPr>
            <a:r>
              <a:rPr sz="1100" b="0">
                <a:solidFill>
                  <a:srgbClr val="2C4740"/>
                </a:solidFill>
                <a:latin typeface="Calibri"/>
              </a:rPr>
              <a:t>El candidato resuelve situaciones laborales reales. Un agente evaluador devuelve un Skill Score de 0 a 100 con feedback criterio a criterio, no una nota opaca.</a:t>
            </a:r>
          </a:p>
        </p:txBody>
      </p:sp>
      <p:sp>
        <p:nvSpPr>
          <p:cNvPr id="6" name="Rounded Rectangle 5"/>
          <p:cNvSpPr/>
          <p:nvPr/>
        </p:nvSpPr>
        <p:spPr>
          <a:xfrm>
            <a:off x="4361688" y="2148840"/>
            <a:ext cx="3474720" cy="196596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2322576"/>
            <a:ext cx="3072384" cy="165506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PIEZA 2 · ANONIMATO</a:t>
            </a:r>
          </a:p>
          <a:p>
            <a:pPr algn="l">
              <a:lnSpc>
                <a:spcPct val="105000"/>
              </a:lnSpc>
              <a:spcAft>
                <a:spcPts val="500"/>
              </a:spcAft>
            </a:pPr>
            <a:r>
              <a:rPr sz="1300" b="1">
                <a:solidFill>
                  <a:srgbClr val="0B1F1A"/>
                </a:solidFill>
                <a:latin typeface="Calibri Light"/>
              </a:rPr>
              <a:t>Perfil ciego hasta el desbloqueo</a:t>
            </a:r>
          </a:p>
          <a:p>
            <a:pPr algn="l">
              <a:lnSpc>
                <a:spcPct val="128000"/>
              </a:lnSpc>
              <a:spcAft>
                <a:spcPts val="0"/>
              </a:spcAft>
            </a:pPr>
            <a:r>
              <a:rPr sz="1100" b="0">
                <a:solidFill>
                  <a:srgbClr val="2C4740"/>
                </a:solidFill>
                <a:latin typeface="Calibri"/>
              </a:rPr>
              <a:t>La empresa ve skills, puntuaciones y sector. Nunca nombre, edad, género ni foto. El anonimato es propuesta de valor y control anti-sesgo a la vez.</a:t>
            </a:r>
          </a:p>
        </p:txBody>
      </p:sp>
      <p:sp>
        <p:nvSpPr>
          <p:cNvPr id="8" name="Rounded Rectangle 7"/>
          <p:cNvSpPr/>
          <p:nvPr/>
        </p:nvSpPr>
        <p:spPr>
          <a:xfrm>
            <a:off x="8065008" y="2148840"/>
            <a:ext cx="3474720" cy="196596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6176" y="2322576"/>
            <a:ext cx="3072384" cy="165506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PIEZA 3 · CREDENCIAL</a:t>
            </a:r>
          </a:p>
          <a:p>
            <a:pPr algn="l">
              <a:lnSpc>
                <a:spcPct val="105000"/>
              </a:lnSpc>
              <a:spcAft>
                <a:spcPts val="500"/>
              </a:spcAft>
            </a:pPr>
            <a:r>
              <a:rPr sz="1300" b="1">
                <a:solidFill>
                  <a:srgbClr val="0B1F1A"/>
                </a:solidFill>
                <a:latin typeface="Calibri Light"/>
              </a:rPr>
              <a:t>SkillPass verificable</a:t>
            </a:r>
          </a:p>
          <a:p>
            <a:pPr algn="l">
              <a:lnSpc>
                <a:spcPct val="128000"/>
              </a:lnSpc>
              <a:spcAft>
                <a:spcPts val="0"/>
              </a:spcAft>
            </a:pPr>
            <a:r>
              <a:rPr sz="1100" b="0">
                <a:solidFill>
                  <a:srgbClr val="2C4740"/>
                </a:solidFill>
                <a:latin typeface="Calibri"/>
              </a:rPr>
              <a:t>El resultado se sella criptográficamente y su huella se ancla en blockchain. Cualquiera lo comprueba en segundos, sin cuenta y sin fiarse de nosotros.</a:t>
            </a:r>
          </a:p>
        </p:txBody>
      </p:sp>
      <p:sp>
        <p:nvSpPr>
          <p:cNvPr id="10" name="Rectangle 9"/>
          <p:cNvSpPr/>
          <p:nvPr/>
        </p:nvSpPr>
        <p:spPr>
          <a:xfrm>
            <a:off x="658368" y="4526280"/>
            <a:ext cx="32004" cy="566928"/>
          </a:xfrm>
          <a:prstGeom prst="rect">
            <a:avLst/>
          </a:prstGeom>
          <a:solidFill>
            <a:srgbClr val="0E7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498848"/>
            <a:ext cx="8961120" cy="640080"/>
          </a:xfrm>
          <a:prstGeom prst="rect">
            <a:avLst/>
          </a:prstGeom>
          <a:noFill/>
        </p:spPr>
        <p:txBody>
          <a:bodyPr wrap="square" lIns="0" rIns="0" tIns="0" bIns="0" anchor="t">
            <a:spAutoFit/>
          </a:bodyPr>
          <a:lstStyle/>
          <a:p>
            <a:pPr algn="l">
              <a:lnSpc>
                <a:spcPct val="120000"/>
              </a:lnSpc>
              <a:spcAft>
                <a:spcPts val="0"/>
              </a:spcAft>
            </a:pPr>
            <a:r>
              <a:rPr sz="1600" b="1">
                <a:solidFill>
                  <a:srgbClr val="0B1F1A"/>
                </a:solidFill>
                <a:latin typeface="Calibri Light"/>
              </a:rPr>
              <a:t>La empresa paga 49 € solo cuando quiere el contacto de un perfil ya validado.</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LA SOLUCIÓN</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2103120"/>
            <a:ext cx="10881360" cy="274320"/>
          </a:xfrm>
          <a:prstGeom prst="rect">
            <a:avLst/>
          </a:prstGeom>
          <a:noFill/>
        </p:spPr>
        <p:txBody>
          <a:bodyPr wrap="square" lIns="0" rIns="0" tIns="0" bIns="0" anchor="t">
            <a:spAutoFit/>
          </a:bodyPr>
          <a:lstStyle/>
          <a:p>
            <a:pPr algn="l">
              <a:lnSpc>
                <a:spcPct val="100000"/>
              </a:lnSpc>
              <a:spcAft>
                <a:spcPts val="0"/>
              </a:spcAft>
            </a:pPr>
            <a:r>
              <a:rPr sz="1050" b="0" spc="220">
                <a:solidFill>
                  <a:srgbClr val="34D399"/>
                </a:solidFill>
                <a:latin typeface="Consolas"/>
              </a:rPr>
              <a:t>ACTO III</a:t>
            </a:r>
          </a:p>
        </p:txBody>
      </p:sp>
      <p:sp>
        <p:nvSpPr>
          <p:cNvPr id="3" name="TextBox 2"/>
          <p:cNvSpPr txBox="1"/>
          <p:nvPr/>
        </p:nvSpPr>
        <p:spPr>
          <a:xfrm>
            <a:off x="658368" y="2514600"/>
            <a:ext cx="9144000" cy="1051560"/>
          </a:xfrm>
          <a:prstGeom prst="rect">
            <a:avLst/>
          </a:prstGeom>
          <a:noFill/>
        </p:spPr>
        <p:txBody>
          <a:bodyPr wrap="square" lIns="0" rIns="0" tIns="0" bIns="0" anchor="t">
            <a:spAutoFit/>
          </a:bodyPr>
          <a:lstStyle/>
          <a:p>
            <a:pPr>
              <a:lnSpc>
                <a:spcPct val="98000"/>
              </a:lnSpc>
            </a:pPr>
            <a:r>
              <a:rPr sz="4400" b="1">
                <a:solidFill>
                  <a:srgbClr val="EAF5F0"/>
                </a:solidFill>
                <a:latin typeface="Calibri Light"/>
              </a:rPr>
              <a:t>El motor de </a:t>
            </a:r>
            <a:r>
              <a:rPr sz="4400" b="1">
                <a:solidFill>
                  <a:srgbClr val="34D399"/>
                </a:solidFill>
                <a:latin typeface="Calibri Light"/>
              </a:rPr>
              <a:t>evaluación.</a:t>
            </a:r>
          </a:p>
        </p:txBody>
      </p:sp>
      <p:sp>
        <p:nvSpPr>
          <p:cNvPr id="4" name="TextBox 3"/>
          <p:cNvSpPr txBox="1"/>
          <p:nvPr/>
        </p:nvSpPr>
        <p:spPr>
          <a:xfrm>
            <a:off x="658368" y="3977639"/>
            <a:ext cx="8138160" cy="73152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Todo el modelo de negocio descansa en una pregunta: ¿puede una IA evaluar talento de forma fiable, justa y auditable?</a:t>
            </a:r>
          </a:p>
        </p:txBody>
      </p:sp>
      <p:sp>
        <p:nvSpPr>
          <p:cNvPr id="5" name="TextBox 4"/>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EL MOTOR DE IA</a:t>
            </a:r>
          </a:p>
        </p:txBody>
      </p:sp>
      <p:sp>
        <p:nvSpPr>
          <p:cNvPr id="6" name="TextBox 5"/>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EL PROBLEMA DE INGENIERÍA</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102 retos distintos, </a:t>
            </a:r>
            <a:r>
              <a:rPr sz="3400" b="1">
                <a:solidFill>
                  <a:srgbClr val="0E7C5A"/>
                </a:solidFill>
                <a:latin typeface="Calibri Light"/>
              </a:rPr>
              <a:t>un solo evaluador.</a:t>
            </a:r>
          </a:p>
        </p:txBody>
      </p:sp>
      <p:sp>
        <p:nvSpPr>
          <p:cNvPr id="4" name="TextBox 3"/>
          <p:cNvSpPr txBox="1"/>
          <p:nvPr/>
        </p:nvSpPr>
        <p:spPr>
          <a:xfrm>
            <a:off x="658368" y="2029968"/>
            <a:ext cx="10241280" cy="822960"/>
          </a:xfrm>
          <a:prstGeom prst="rect">
            <a:avLst/>
          </a:prstGeom>
          <a:noFill/>
        </p:spPr>
        <p:txBody>
          <a:bodyPr wrap="square" lIns="0" rIns="0" tIns="0" bIns="0" anchor="t">
            <a:spAutoFit/>
          </a:bodyPr>
          <a:lstStyle/>
          <a:p>
            <a:pPr algn="l">
              <a:lnSpc>
                <a:spcPct val="140000"/>
              </a:lnSpc>
              <a:spcAft>
                <a:spcPts val="0"/>
              </a:spcAft>
            </a:pPr>
            <a:r>
              <a:rPr sz="1300" b="0">
                <a:solidFill>
                  <a:srgbClr val="2C4740"/>
                </a:solidFill>
                <a:latin typeface="Calibri"/>
              </a:rPr>
              <a:t>Código Python, casos de negocio, negociación, análisis financiero, redacción. La solución ingenua —un evaluador por tipo de reto— no escala. La nuestra es una arquitectura de cuatro agentes de la que hemos llevado a producción el cuarto.</a:t>
            </a:r>
          </a:p>
        </p:txBody>
      </p:sp>
      <p:sp>
        <p:nvSpPr>
          <p:cNvPr id="5" name="Rounded Rectangle 4"/>
          <p:cNvSpPr/>
          <p:nvPr/>
        </p:nvSpPr>
        <p:spPr>
          <a:xfrm>
            <a:off x="658368" y="3200400"/>
            <a:ext cx="2651760" cy="120700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346704"/>
            <a:ext cx="2322576" cy="932688"/>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01</a:t>
            </a:r>
          </a:p>
          <a:p>
            <a:pPr algn="l">
              <a:lnSpc>
                <a:spcPct val="100000"/>
              </a:lnSpc>
              <a:spcAft>
                <a:spcPts val="400"/>
              </a:spcAft>
            </a:pPr>
            <a:r>
              <a:rPr sz="1200" b="1">
                <a:solidFill>
                  <a:srgbClr val="0B1F1A"/>
                </a:solidFill>
                <a:latin typeface="Calibri Light"/>
              </a:rPr>
              <a:t>Analista</a:t>
            </a:r>
          </a:p>
          <a:p>
            <a:pPr algn="l">
              <a:lnSpc>
                <a:spcPct val="125000"/>
              </a:lnSpc>
              <a:spcAft>
                <a:spcPts val="0"/>
              </a:spcAft>
            </a:pPr>
            <a:r>
              <a:rPr sz="950" b="0">
                <a:solidFill>
                  <a:srgbClr val="5A6B65"/>
                </a:solidFill>
                <a:latin typeface="Calibri"/>
              </a:rPr>
              <a:t>Interpreta la oferta y extrae el vector de habilidades exigidas.</a:t>
            </a:r>
          </a:p>
        </p:txBody>
      </p:sp>
      <p:sp>
        <p:nvSpPr>
          <p:cNvPr id="7" name="Rounded Rectangle 6"/>
          <p:cNvSpPr/>
          <p:nvPr/>
        </p:nvSpPr>
        <p:spPr>
          <a:xfrm>
            <a:off x="3401568" y="3200400"/>
            <a:ext cx="2651760" cy="120700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3346704"/>
            <a:ext cx="2322576" cy="932688"/>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02</a:t>
            </a:r>
          </a:p>
          <a:p>
            <a:pPr algn="l">
              <a:lnSpc>
                <a:spcPct val="100000"/>
              </a:lnSpc>
              <a:spcAft>
                <a:spcPts val="400"/>
              </a:spcAft>
            </a:pPr>
            <a:r>
              <a:rPr sz="1200" b="1">
                <a:solidFill>
                  <a:srgbClr val="0B1F1A"/>
                </a:solidFill>
                <a:latin typeface="Calibri Light"/>
              </a:rPr>
              <a:t>Generador</a:t>
            </a:r>
          </a:p>
          <a:p>
            <a:pPr algn="l">
              <a:lnSpc>
                <a:spcPct val="125000"/>
              </a:lnSpc>
              <a:spcAft>
                <a:spcPts val="0"/>
              </a:spcAft>
            </a:pPr>
            <a:r>
              <a:rPr sz="950" b="0">
                <a:solidFill>
                  <a:srgbClr val="5A6B65"/>
                </a:solidFill>
                <a:latin typeface="Calibri"/>
              </a:rPr>
              <a:t>Crea el reto práctico y, sobre todo, su rúbrica de evaluación.</a:t>
            </a:r>
          </a:p>
        </p:txBody>
      </p:sp>
      <p:sp>
        <p:nvSpPr>
          <p:cNvPr id="9" name="Rounded Rectangle 8"/>
          <p:cNvSpPr/>
          <p:nvPr/>
        </p:nvSpPr>
        <p:spPr>
          <a:xfrm>
            <a:off x="6144768" y="3200400"/>
            <a:ext cx="2651760" cy="120700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3346704"/>
            <a:ext cx="2322576" cy="932688"/>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03</a:t>
            </a:r>
          </a:p>
          <a:p>
            <a:pPr algn="l">
              <a:lnSpc>
                <a:spcPct val="100000"/>
              </a:lnSpc>
              <a:spcAft>
                <a:spcPts val="400"/>
              </a:spcAft>
            </a:pPr>
            <a:r>
              <a:rPr sz="1200" b="1">
                <a:solidFill>
                  <a:srgbClr val="0B1F1A"/>
                </a:solidFill>
                <a:latin typeface="Calibri Light"/>
              </a:rPr>
              <a:t>Sandbox</a:t>
            </a:r>
          </a:p>
          <a:p>
            <a:pPr algn="l">
              <a:lnSpc>
                <a:spcPct val="125000"/>
              </a:lnSpc>
              <a:spcAft>
                <a:spcPts val="0"/>
              </a:spcAft>
            </a:pPr>
            <a:r>
              <a:rPr sz="950" b="0">
                <a:solidFill>
                  <a:srgbClr val="5A6B65"/>
                </a:solidFill>
                <a:latin typeface="Calibri"/>
              </a:rPr>
              <a:t>Captura la respuesta del candidato y sus metadatos.</a:t>
            </a:r>
          </a:p>
        </p:txBody>
      </p:sp>
      <p:sp>
        <p:nvSpPr>
          <p:cNvPr id="11" name="Rounded Rectangle 10"/>
          <p:cNvSpPr/>
          <p:nvPr/>
        </p:nvSpPr>
        <p:spPr>
          <a:xfrm>
            <a:off x="8887968" y="3200400"/>
            <a:ext cx="2651760" cy="1207008"/>
          </a:xfrm>
          <a:prstGeom prst="roundRect">
            <a:avLst>
              <a:gd name="adj" fmla="val 6000"/>
            </a:avLst>
          </a:prstGeom>
          <a:solidFill>
            <a:srgbClr val="08221C"/>
          </a:solidFill>
          <a:ln w="9525">
            <a:solidFill>
              <a:srgbClr val="0822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0" y="3346704"/>
            <a:ext cx="2322576" cy="932688"/>
          </a:xfrm>
          <a:prstGeom prst="rect">
            <a:avLst/>
          </a:prstGeom>
          <a:noFill/>
        </p:spPr>
        <p:txBody>
          <a:bodyPr wrap="square" lIns="0" rIns="0" tIns="0" bIns="0" anchor="t">
            <a:spAutoFit/>
          </a:bodyPr>
          <a:lstStyle/>
          <a:p>
            <a:pPr algn="l">
              <a:lnSpc>
                <a:spcPct val="100000"/>
              </a:lnSpc>
              <a:spcAft>
                <a:spcPts val="500"/>
              </a:spcAft>
            </a:pPr>
            <a:r>
              <a:rPr sz="800" b="0" spc="150">
                <a:solidFill>
                  <a:srgbClr val="34D399"/>
                </a:solidFill>
                <a:latin typeface="Consolas"/>
              </a:rPr>
              <a:t>04 · EN PRODUCCIÓN</a:t>
            </a:r>
          </a:p>
          <a:p>
            <a:pPr algn="l">
              <a:lnSpc>
                <a:spcPct val="100000"/>
              </a:lnSpc>
              <a:spcAft>
                <a:spcPts val="400"/>
              </a:spcAft>
            </a:pPr>
            <a:r>
              <a:rPr sz="1200" b="1">
                <a:solidFill>
                  <a:srgbClr val="EAF5F0"/>
                </a:solidFill>
                <a:latin typeface="Calibri Light"/>
              </a:rPr>
              <a:t>Evaluador</a:t>
            </a:r>
          </a:p>
          <a:p>
            <a:pPr algn="l">
              <a:lnSpc>
                <a:spcPct val="125000"/>
              </a:lnSpc>
              <a:spcAft>
                <a:spcPts val="0"/>
              </a:spcAft>
            </a:pPr>
            <a:r>
              <a:rPr sz="950" b="0">
                <a:solidFill>
                  <a:srgbClr val="9CBBB0"/>
                </a:solidFill>
                <a:latin typeface="Calibri"/>
              </a:rPr>
              <a:t>Aplica la rúbrica con razonamiento explícito y emite el Skill Score.</a:t>
            </a:r>
          </a:p>
        </p:txBody>
      </p:sp>
      <p:sp>
        <p:nvSpPr>
          <p:cNvPr id="13" name="TextBox 12"/>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MOTOR DE IA</a:t>
            </a:r>
          </a:p>
        </p:txBody>
      </p:sp>
      <p:sp>
        <p:nvSpPr>
          <p:cNvPr id="14" name="TextBox 13"/>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LA IDEA CENTRAL</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La inteligencia vive en los datos, </a:t>
            </a:r>
            <a:r>
              <a:rPr sz="3400" b="1">
                <a:solidFill>
                  <a:srgbClr val="0E7C5A"/>
                </a:solidFill>
                <a:latin typeface="Calibri Light"/>
              </a:rPr>
              <a:t>no en el código.</a:t>
            </a:r>
          </a:p>
        </p:txBody>
      </p:sp>
      <p:sp>
        <p:nvSpPr>
          <p:cNvPr id="4" name="TextBox 3"/>
          <p:cNvSpPr txBox="1"/>
          <p:nvPr/>
        </p:nvSpPr>
        <p:spPr>
          <a:xfrm>
            <a:off x="658368" y="2011680"/>
            <a:ext cx="5669280" cy="1005840"/>
          </a:xfrm>
          <a:prstGeom prst="rect">
            <a:avLst/>
          </a:prstGeom>
          <a:noFill/>
        </p:spPr>
        <p:txBody>
          <a:bodyPr wrap="square" lIns="0" rIns="0" tIns="0" bIns="0" anchor="t">
            <a:spAutoFit/>
          </a:bodyPr>
          <a:lstStyle/>
          <a:p>
            <a:pPr>
              <a:lnSpc>
                <a:spcPct val="138000"/>
              </a:lnSpc>
              <a:spcAft>
                <a:spcPts val="0"/>
              </a:spcAft>
            </a:pPr>
            <a:r>
              <a:rPr sz="1250" b="0">
                <a:solidFill>
                  <a:srgbClr val="2C4740"/>
                </a:solidFill>
                <a:latin typeface="Calibri"/>
              </a:rPr>
              <a:t>En lugar de programar la lógica de cada reto, </a:t>
            </a:r>
            <a:r>
              <a:rPr sz="1250" b="1">
                <a:solidFill>
                  <a:srgbClr val="0B1F1A"/>
                </a:solidFill>
                <a:latin typeface="Calibri"/>
              </a:rPr>
              <a:t>inyectamos su rúbrica en tiempo de ejecución</a:t>
            </a:r>
            <a:r>
              <a:rPr sz="1250" b="0">
                <a:solidFill>
                  <a:srgbClr val="2C4740"/>
                </a:solidFill>
                <a:latin typeface="Calibri"/>
              </a:rPr>
              <a:t> dentro del prompt de sistema. El código es un pipeline genérico; lo que sabe evaluar es la rúbrica, y la rúbrica es un dato configurable.</a:t>
            </a:r>
          </a:p>
        </p:txBody>
      </p:sp>
      <p:sp>
        <p:nvSpPr>
          <p:cNvPr id="5" name="TextBox 4"/>
          <p:cNvSpPr txBox="1"/>
          <p:nvPr/>
        </p:nvSpPr>
        <p:spPr>
          <a:xfrm>
            <a:off x="658368" y="3200400"/>
            <a:ext cx="5669280" cy="2194560"/>
          </a:xfrm>
          <a:prstGeom prst="rect">
            <a:avLst/>
          </a:prstGeom>
          <a:noFill/>
        </p:spPr>
        <p:txBody>
          <a:bodyPr wrap="square" lIns="0" rIns="0" tIns="0" bIns="0" anchor="t">
            <a:spAutoFit/>
          </a:bodyPr>
          <a:lstStyle/>
          <a:p>
            <a:pPr>
              <a:lnSpc>
                <a:spcPct val="132000"/>
              </a:lnSpc>
              <a:spcAft>
                <a:spcPts val="900"/>
              </a:spcAft>
            </a:pPr>
            <a:r>
              <a:rPr sz="1150">
                <a:solidFill>
                  <a:srgbClr val="0E7C5A"/>
                </a:solidFill>
                <a:latin typeface="Calibri"/>
              </a:rPr>
              <a:t>▪  </a:t>
            </a:r>
            <a:r>
              <a:rPr sz="1150" b="1">
                <a:solidFill>
                  <a:srgbClr val="0B1F1A"/>
                </a:solidFill>
                <a:latin typeface="Calibri"/>
              </a:rPr>
              <a:t>Chain of Thought: </a:t>
            </a:r>
            <a:r>
              <a:rPr sz="1150" b="0">
                <a:solidFill>
                  <a:srgbClr val="2C4740"/>
                </a:solidFill>
                <a:latin typeface="Calibri"/>
              </a:rPr>
              <a:t>obliga a razonar criterio por criterio antes de la nota. Es lo que la hace auditable.</a:t>
            </a:r>
          </a:p>
          <a:p>
            <a:pPr>
              <a:lnSpc>
                <a:spcPct val="132000"/>
              </a:lnSpc>
              <a:spcAft>
                <a:spcPts val="900"/>
              </a:spcAft>
            </a:pPr>
            <a:r>
              <a:rPr sz="1150">
                <a:solidFill>
                  <a:srgbClr val="0E7C5A"/>
                </a:solidFill>
                <a:latin typeface="Calibri"/>
              </a:rPr>
              <a:t>▪  </a:t>
            </a:r>
            <a:r>
              <a:rPr sz="1150" b="1">
                <a:solidFill>
                  <a:srgbClr val="0B1F1A"/>
                </a:solidFill>
                <a:latin typeface="Calibri"/>
              </a:rPr>
              <a:t>Constitutional AI: </a:t>
            </a:r>
            <a:r>
              <a:rPr sz="1150" b="0">
                <a:solidFill>
                  <a:srgbClr val="2C4740"/>
                </a:solidFill>
                <a:latin typeface="Calibri"/>
              </a:rPr>
              <a:t>cláusulas de equidad explícitas; la nota debe ser independiente de género, edad, origen o estilo.</a:t>
            </a:r>
          </a:p>
          <a:p>
            <a:pPr>
              <a:lnSpc>
                <a:spcPct val="132000"/>
              </a:lnSpc>
              <a:spcAft>
                <a:spcPts val="900"/>
              </a:spcAft>
            </a:pPr>
            <a:r>
              <a:rPr sz="1150">
                <a:solidFill>
                  <a:srgbClr val="0E7C5A"/>
                </a:solidFill>
                <a:latin typeface="Calibri"/>
              </a:rPr>
              <a:t>▪  </a:t>
            </a:r>
            <a:r>
              <a:rPr sz="1150" b="1">
                <a:solidFill>
                  <a:srgbClr val="0B1F1A"/>
                </a:solidFill>
                <a:latin typeface="Calibri"/>
              </a:rPr>
              <a:t>Temperatura cero: </a:t>
            </a:r>
            <a:r>
              <a:rPr sz="1150" b="0">
                <a:solidFill>
                  <a:srgbClr val="2C4740"/>
                </a:solidFill>
                <a:latin typeface="Calibri"/>
              </a:rPr>
              <a:t>mismo input, mismo score. En un sistema que decide sobre empleo, no es negociable.</a:t>
            </a:r>
          </a:p>
        </p:txBody>
      </p:sp>
      <p:sp>
        <p:nvSpPr>
          <p:cNvPr id="6" name="Rounded Rectangle 5"/>
          <p:cNvSpPr/>
          <p:nvPr/>
        </p:nvSpPr>
        <p:spPr>
          <a:xfrm>
            <a:off x="6720840" y="2011680"/>
            <a:ext cx="4800600" cy="2148840"/>
          </a:xfrm>
          <a:prstGeom prst="roundRect">
            <a:avLst>
              <a:gd name="adj" fmla="val 6000"/>
            </a:avLst>
          </a:prstGeom>
          <a:solidFill>
            <a:srgbClr val="082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67728" y="2212848"/>
            <a:ext cx="4389120" cy="1828800"/>
          </a:xfrm>
          <a:prstGeom prst="rect">
            <a:avLst/>
          </a:prstGeom>
          <a:noFill/>
        </p:spPr>
        <p:txBody>
          <a:bodyPr wrap="square" lIns="0" rIns="0" tIns="0" bIns="0" anchor="t">
            <a:spAutoFit/>
          </a:bodyPr>
          <a:lstStyle/>
          <a:p>
            <a:pPr algn="l">
              <a:lnSpc>
                <a:spcPct val="110000"/>
              </a:lnSpc>
              <a:spcAft>
                <a:spcPts val="200"/>
              </a:spcAft>
            </a:pPr>
            <a:r>
              <a:rPr sz="1050" b="0">
                <a:solidFill>
                  <a:srgbClr val="6E9587"/>
                </a:solidFill>
                <a:latin typeface="Consolas"/>
              </a:rPr>
              <a:t>// Añadir el reto 103 no toca el código:</a:t>
            </a:r>
          </a:p>
          <a:p>
            <a:pPr algn="l">
              <a:lnSpc>
                <a:spcPct val="110000"/>
              </a:lnSpc>
              <a:spcAft>
                <a:spcPts val="200"/>
              </a:spcAft>
            </a:pPr>
            <a:r>
              <a:rPr sz="1050" b="0">
                <a:solidFill>
                  <a:srgbClr val="B9E6D3"/>
                </a:solidFill>
                <a:latin typeface="Consolas"/>
              </a:rPr>
              <a:t>{</a:t>
            </a:r>
          </a:p>
          <a:p>
            <a:pPr algn="l">
              <a:lnSpc>
                <a:spcPct val="110000"/>
              </a:lnSpc>
              <a:spcAft>
                <a:spcPts val="200"/>
              </a:spcAft>
            </a:pPr>
            <a:r>
              <a:rPr sz="1050" b="0">
                <a:solidFill>
                  <a:srgbClr val="34D399"/>
                </a:solidFill>
                <a:latin typeface="Consolas"/>
              </a:rPr>
              <a:t>  "id": "common_negotiation",</a:t>
            </a:r>
          </a:p>
          <a:p>
            <a:pPr algn="l">
              <a:lnSpc>
                <a:spcPct val="110000"/>
              </a:lnSpc>
              <a:spcAft>
                <a:spcPts val="200"/>
              </a:spcAft>
            </a:pPr>
            <a:r>
              <a:rPr sz="1050" b="0">
                <a:solidFill>
                  <a:srgbClr val="34D399"/>
                </a:solidFill>
                <a:latin typeface="Consolas"/>
              </a:rPr>
              <a:t>  "rubrica": [</a:t>
            </a:r>
          </a:p>
          <a:p>
            <a:pPr algn="l">
              <a:lnSpc>
                <a:spcPct val="110000"/>
              </a:lnSpc>
              <a:spcAft>
                <a:spcPts val="200"/>
              </a:spcAft>
            </a:pPr>
            <a:r>
              <a:rPr sz="1050" b="0">
                <a:solidFill>
                  <a:srgbClr val="34D399"/>
                </a:solidFill>
                <a:latin typeface="Consolas"/>
              </a:rPr>
              <a:t>     "Análisis de la posición",</a:t>
            </a:r>
          </a:p>
          <a:p>
            <a:pPr algn="l">
              <a:lnSpc>
                <a:spcPct val="110000"/>
              </a:lnSpc>
              <a:spcAft>
                <a:spcPts val="200"/>
              </a:spcAft>
            </a:pPr>
            <a:r>
              <a:rPr sz="1050" b="0">
                <a:solidFill>
                  <a:srgbClr val="34D399"/>
                </a:solidFill>
                <a:latin typeface="Consolas"/>
              </a:rPr>
              <a:t>     "Uso del leverage",</a:t>
            </a:r>
          </a:p>
          <a:p>
            <a:pPr algn="l">
              <a:lnSpc>
                <a:spcPct val="110000"/>
              </a:lnSpc>
              <a:spcAft>
                <a:spcPts val="200"/>
              </a:spcAft>
            </a:pPr>
            <a:r>
              <a:rPr sz="1050" b="0">
                <a:solidFill>
                  <a:srgbClr val="34D399"/>
                </a:solidFill>
                <a:latin typeface="Consolas"/>
              </a:rPr>
              <a:t>     "Búsqueda de win-win"</a:t>
            </a:r>
          </a:p>
          <a:p>
            <a:pPr algn="l">
              <a:lnSpc>
                <a:spcPct val="110000"/>
              </a:lnSpc>
              <a:spcAft>
                <a:spcPts val="200"/>
              </a:spcAft>
            </a:pPr>
            <a:r>
              <a:rPr sz="1050" b="0">
                <a:solidFill>
                  <a:srgbClr val="34D399"/>
                </a:solidFill>
                <a:latin typeface="Consolas"/>
              </a:rPr>
              <a:t>  ]</a:t>
            </a:r>
          </a:p>
          <a:p>
            <a:pPr algn="l">
              <a:lnSpc>
                <a:spcPct val="110000"/>
              </a:lnSpc>
              <a:spcAft>
                <a:spcPts val="200"/>
              </a:spcAft>
            </a:pPr>
            <a:r>
              <a:rPr sz="1050" b="0">
                <a:solidFill>
                  <a:srgbClr val="B9E6D3"/>
                </a:solidFill>
                <a:latin typeface="Consolas"/>
              </a:rPr>
              <a:t>}</a:t>
            </a:r>
          </a:p>
        </p:txBody>
      </p:sp>
      <p:sp>
        <p:nvSpPr>
          <p:cNvPr id="8" name="TextBox 7"/>
          <p:cNvSpPr txBox="1"/>
          <p:nvPr/>
        </p:nvSpPr>
        <p:spPr>
          <a:xfrm>
            <a:off x="6720840" y="4343400"/>
            <a:ext cx="4800600" cy="548640"/>
          </a:xfrm>
          <a:prstGeom prst="rect">
            <a:avLst/>
          </a:prstGeom>
          <a:noFill/>
        </p:spPr>
        <p:txBody>
          <a:bodyPr wrap="square" lIns="0" rIns="0" tIns="0" bIns="0" anchor="t">
            <a:spAutoFit/>
          </a:bodyPr>
          <a:lstStyle/>
          <a:p>
            <a:pPr>
              <a:lnSpc>
                <a:spcPct val="135000"/>
              </a:lnSpc>
              <a:spcAft>
                <a:spcPts val="0"/>
              </a:spcAft>
            </a:pPr>
            <a:r>
              <a:rPr sz="1150" b="1">
                <a:solidFill>
                  <a:srgbClr val="0B1F1A"/>
                </a:solidFill>
                <a:latin typeface="Calibri"/>
              </a:rPr>
              <a:t>Cero líneas de código. Cero modelos nuevos.</a:t>
            </a:r>
            <a:r>
              <a:rPr sz="1150" b="0">
                <a:solidFill>
                  <a:srgbClr val="2C4740"/>
                </a:solidFill>
                <a:latin typeface="Calibri"/>
              </a:rPr>
              <a:t> Es lo que permite pasar de 102 retos a 500 sin tocar la arquitectura.</a:t>
            </a:r>
          </a:p>
        </p:txBody>
      </p:sp>
      <p:sp>
        <p:nvSpPr>
          <p:cNvPr id="9" name="TextBox 8"/>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MOTOR DE IA</a:t>
            </a:r>
          </a:p>
        </p:txBody>
      </p:sp>
      <p:sp>
        <p:nvSpPr>
          <p:cNvPr id="10" name="TextBox 9"/>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RESULTADOS MEDIDOS, NO ESTIMADOS</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Qué cumple y qué </a:t>
            </a:r>
            <a:r>
              <a:rPr sz="3400" b="1">
                <a:solidFill>
                  <a:srgbClr val="0E7C5A"/>
                </a:solidFill>
                <a:latin typeface="Calibri Light"/>
              </a:rPr>
              <a:t>todavía no.</a:t>
            </a:r>
          </a:p>
        </p:txBody>
      </p:sp>
      <p:graphicFrame>
        <p:nvGraphicFramePr>
          <p:cNvPr id="4" name="Table 3"/>
          <p:cNvGraphicFramePr>
            <a:graphicFrameLocks noGrp="1"/>
          </p:cNvGraphicFramePr>
          <p:nvPr/>
        </p:nvGraphicFramePr>
        <p:xfrm>
          <a:off x="658368" y="2084831"/>
          <a:ext cx="10881360" cy="2560320"/>
        </p:xfrm>
        <a:graphic>
          <a:graphicData uri="http://schemas.openxmlformats.org/drawingml/2006/table">
            <a:tbl>
              <a:tblPr>
                <a:tableStyleId>{5C22544A-7EE6-4342-B048-85BDC9FD1C3A}</a:tableStyleId>
              </a:tblPr>
              <a:tblGrid>
                <a:gridCol w="3657600"/>
                <a:gridCol w="1737360"/>
                <a:gridCol w="1645920"/>
                <a:gridCol w="3840480"/>
              </a:tblGrid>
              <a:tr h="365760">
                <a:tc>
                  <a:txBody>
                    <a:bodyPr/>
                    <a:lstStyle/>
                    <a:p>
                      <a:pPr algn="l">
                        <a:lnSpc>
                          <a:spcPct val="100000"/>
                        </a:lnSpc>
                        <a:spcAft>
                          <a:spcPts val="0"/>
                        </a:spcAft>
                      </a:pPr>
                      <a:r>
                        <a:rPr sz="850" b="0" spc="120">
                          <a:solidFill>
                            <a:srgbClr val="5A6B65"/>
                          </a:solidFill>
                          <a:latin typeface="Consolas"/>
                        </a:rPr>
                        <a:t>INDICADOR</a:t>
                      </a:r>
                    </a:p>
                  </a:txBody>
                  <a:tcPr marL="82296" marR="82296" marT="45720" marB="45720">
                    <a:solidFill>
                      <a:srgbClr val="F7F8F6"/>
                    </a:solidFill>
                  </a:tcPr>
                </a:tc>
                <a:tc>
                  <a:txBody>
                    <a:bodyPr/>
                    <a:lstStyle/>
                    <a:p>
                      <a:pPr algn="r">
                        <a:lnSpc>
                          <a:spcPct val="100000"/>
                        </a:lnSpc>
                        <a:spcAft>
                          <a:spcPts val="0"/>
                        </a:spcAft>
                      </a:pPr>
                      <a:r>
                        <a:rPr sz="850" b="0" spc="120">
                          <a:solidFill>
                            <a:srgbClr val="5A6B65"/>
                          </a:solidFill>
                          <a:latin typeface="Consolas"/>
                        </a:rPr>
                        <a:t>OBJETIVO</a:t>
                      </a:r>
                    </a:p>
                  </a:txBody>
                  <a:tcPr marL="82296" marR="82296" marT="45720" marB="45720">
                    <a:solidFill>
                      <a:srgbClr val="F7F8F6"/>
                    </a:solidFill>
                  </a:tcPr>
                </a:tc>
                <a:tc>
                  <a:txBody>
                    <a:bodyPr/>
                    <a:lstStyle/>
                    <a:p>
                      <a:pPr algn="r">
                        <a:lnSpc>
                          <a:spcPct val="100000"/>
                        </a:lnSpc>
                        <a:spcAft>
                          <a:spcPts val="0"/>
                        </a:spcAft>
                      </a:pPr>
                      <a:r>
                        <a:rPr sz="850" b="0" spc="120">
                          <a:solidFill>
                            <a:srgbClr val="5A6B65"/>
                          </a:solidFill>
                          <a:latin typeface="Consolas"/>
                        </a:rPr>
                        <a:t>MEDIDO</a:t>
                      </a:r>
                    </a:p>
                  </a:txBody>
                  <a:tcPr marL="82296" marR="82296" marT="45720" marB="45720">
                    <a:solidFill>
                      <a:srgbClr val="F7F8F6"/>
                    </a:solidFill>
                  </a:tcPr>
                </a:tc>
                <a:tc>
                  <a:txBody>
                    <a:bodyPr/>
                    <a:lstStyle/>
                    <a:p>
                      <a:pPr algn="l">
                        <a:lnSpc>
                          <a:spcPct val="100000"/>
                        </a:lnSpc>
                        <a:spcAft>
                          <a:spcPts val="0"/>
                        </a:spcAft>
                      </a:pPr>
                      <a:r>
                        <a:rPr sz="850" b="0" spc="120">
                          <a:solidFill>
                            <a:srgbClr val="5A6B65"/>
                          </a:solidFill>
                          <a:latin typeface="Consolas"/>
                        </a:rPr>
                        <a:t>ESTADO</a:t>
                      </a:r>
                    </a:p>
                  </a:txBody>
                  <a:tcPr marL="82296" marR="82296" marT="45720" marB="45720">
                    <a:solidFill>
                      <a:srgbClr val="F7F8F6"/>
                    </a:solidFill>
                  </a:tcPr>
                </a:tc>
              </a:tr>
              <a:tr h="365760">
                <a:tc>
                  <a:txBody>
                    <a:bodyPr/>
                    <a:lstStyle/>
                    <a:p>
                      <a:pPr algn="l">
                        <a:lnSpc>
                          <a:spcPct val="100000"/>
                        </a:lnSpc>
                        <a:spcAft>
                          <a:spcPts val="0"/>
                        </a:spcAft>
                      </a:pPr>
                      <a:r>
                        <a:rPr sz="1100" b="1">
                          <a:solidFill>
                            <a:srgbClr val="0B1F1A"/>
                          </a:solidFill>
                          <a:latin typeface="Calibri"/>
                        </a:rPr>
                        <a:t>Coste por evaluación</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&lt; 0,04 €</a:t>
                      </a:r>
                    </a:p>
                  </a:txBody>
                  <a:tcPr marL="82296" marR="82296" marT="54864" marB="54864">
                    <a:solidFill>
                      <a:srgbClr val="FFFFFF"/>
                    </a:solidFill>
                  </a:tcPr>
                </a:tc>
                <a:tc>
                  <a:txBody>
                    <a:bodyPr/>
                    <a:lstStyle/>
                    <a:p>
                      <a:pPr algn="r">
                        <a:lnSpc>
                          <a:spcPct val="100000"/>
                        </a:lnSpc>
                        <a:spcAft>
                          <a:spcPts val="0"/>
                        </a:spcAft>
                      </a:pPr>
                      <a:r>
                        <a:rPr sz="1100" b="1">
                          <a:solidFill>
                            <a:srgbClr val="0B1F1A"/>
                          </a:solidFill>
                          <a:latin typeface="Consolas"/>
                        </a:rPr>
                        <a:t>0,014 €</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FFFFF"/>
                    </a:solidFill>
                  </a:tcPr>
                </a:tc>
              </a:tr>
              <a:tr h="365760">
                <a:tc>
                  <a:txBody>
                    <a:bodyPr/>
                    <a:lstStyle/>
                    <a:p>
                      <a:pPr algn="l">
                        <a:lnSpc>
                          <a:spcPct val="100000"/>
                        </a:lnSpc>
                        <a:spcAft>
                          <a:spcPts val="0"/>
                        </a:spcAft>
                      </a:pPr>
                      <a:r>
                        <a:rPr sz="1100" b="1">
                          <a:solidFill>
                            <a:srgbClr val="0B1F1A"/>
                          </a:solidFill>
                          <a:latin typeface="Calibri"/>
                        </a:rPr>
                        <a:t>Detección de prompt injection</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100 %</a:t>
                      </a:r>
                    </a:p>
                  </a:txBody>
                  <a:tcPr marL="82296" marR="82296" marT="54864" marB="54864">
                    <a:solidFill>
                      <a:srgbClr val="F7F8F6"/>
                    </a:solidFill>
                  </a:tcPr>
                </a:tc>
                <a:tc>
                  <a:txBody>
                    <a:bodyPr/>
                    <a:lstStyle/>
                    <a:p>
                      <a:pPr algn="r">
                        <a:lnSpc>
                          <a:spcPct val="100000"/>
                        </a:lnSpc>
                        <a:spcAft>
                          <a:spcPts val="0"/>
                        </a:spcAft>
                      </a:pPr>
                      <a:r>
                        <a:rPr sz="1100" b="1">
                          <a:solidFill>
                            <a:srgbClr val="0B1F1A"/>
                          </a:solidFill>
                          <a:latin typeface="Consolas"/>
                        </a:rPr>
                        <a:t>100 %</a:t>
                      </a:r>
                    </a:p>
                  </a:txBody>
                  <a:tcPr marL="82296" marR="82296" marT="54864" marB="54864">
                    <a:solidFill>
                      <a:srgbClr val="F7F8F6"/>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7F8F6"/>
                    </a:solidFill>
                  </a:tcPr>
                </a:tc>
              </a:tr>
              <a:tr h="365760">
                <a:tc>
                  <a:txBody>
                    <a:bodyPr/>
                    <a:lstStyle/>
                    <a:p>
                      <a:pPr algn="l">
                        <a:lnSpc>
                          <a:spcPct val="100000"/>
                        </a:lnSpc>
                        <a:spcAft>
                          <a:spcPts val="0"/>
                        </a:spcAft>
                      </a:pPr>
                      <a:r>
                        <a:rPr sz="1100" b="1">
                          <a:solidFill>
                            <a:srgbClr val="0B1F1A"/>
                          </a:solidFill>
                          <a:latin typeface="Calibri"/>
                        </a:rPr>
                        <a:t>Capacidad de discriminación</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&gt; 40 pts</a:t>
                      </a:r>
                    </a:p>
                  </a:txBody>
                  <a:tcPr marL="82296" marR="82296" marT="54864" marB="54864">
                    <a:solidFill>
                      <a:srgbClr val="FFFFFF"/>
                    </a:solidFill>
                  </a:tcPr>
                </a:tc>
                <a:tc>
                  <a:txBody>
                    <a:bodyPr/>
                    <a:lstStyle/>
                    <a:p>
                      <a:pPr algn="r">
                        <a:lnSpc>
                          <a:spcPct val="100000"/>
                        </a:lnSpc>
                        <a:spcAft>
                          <a:spcPts val="0"/>
                        </a:spcAft>
                      </a:pPr>
                      <a:r>
                        <a:rPr sz="1100" b="1">
                          <a:solidFill>
                            <a:srgbClr val="0B1F1A"/>
                          </a:solidFill>
                          <a:latin typeface="Consolas"/>
                        </a:rPr>
                        <a:t>83 pts</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FFFFF"/>
                    </a:solidFill>
                  </a:tcPr>
                </a:tc>
              </a:tr>
              <a:tr h="365760">
                <a:tc>
                  <a:txBody>
                    <a:bodyPr/>
                    <a:lstStyle/>
                    <a:p>
                      <a:pPr algn="l">
                        <a:lnSpc>
                          <a:spcPct val="100000"/>
                        </a:lnSpc>
                        <a:spcAft>
                          <a:spcPts val="0"/>
                        </a:spcAft>
                      </a:pPr>
                      <a:r>
                        <a:rPr sz="1100" b="1">
                          <a:solidFill>
                            <a:srgbClr val="0B1F1A"/>
                          </a:solidFill>
                          <a:latin typeface="Calibri"/>
                        </a:rPr>
                        <a:t>Tasa de rechazo del modelo</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&lt; 5 %</a:t>
                      </a:r>
                    </a:p>
                  </a:txBody>
                  <a:tcPr marL="82296" marR="82296" marT="54864" marB="54864">
                    <a:solidFill>
                      <a:srgbClr val="F7F8F6"/>
                    </a:solidFill>
                  </a:tcPr>
                </a:tc>
                <a:tc>
                  <a:txBody>
                    <a:bodyPr/>
                    <a:lstStyle/>
                    <a:p>
                      <a:pPr algn="r">
                        <a:lnSpc>
                          <a:spcPct val="100000"/>
                        </a:lnSpc>
                        <a:spcAft>
                          <a:spcPts val="0"/>
                        </a:spcAft>
                      </a:pPr>
                      <a:r>
                        <a:rPr sz="1100" b="1">
                          <a:solidFill>
                            <a:srgbClr val="0B1F1A"/>
                          </a:solidFill>
                          <a:latin typeface="Consolas"/>
                        </a:rPr>
                        <a:t>0 %</a:t>
                      </a:r>
                    </a:p>
                  </a:txBody>
                  <a:tcPr marL="82296" marR="82296" marT="54864" marB="54864">
                    <a:solidFill>
                      <a:srgbClr val="F7F8F6"/>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7F8F6"/>
                    </a:solidFill>
                  </a:tcPr>
                </a:tc>
              </a:tr>
              <a:tr h="365760">
                <a:tc>
                  <a:txBody>
                    <a:bodyPr/>
                    <a:lstStyle/>
                    <a:p>
                      <a:pPr algn="l">
                        <a:lnSpc>
                          <a:spcPct val="100000"/>
                        </a:lnSpc>
                        <a:spcAft>
                          <a:spcPts val="0"/>
                        </a:spcAft>
                      </a:pPr>
                      <a:r>
                        <a:rPr sz="1100" b="1">
                          <a:solidFill>
                            <a:srgbClr val="0B1F1A"/>
                          </a:solidFill>
                          <a:latin typeface="Calibri"/>
                        </a:rPr>
                        <a:t>Latencia extremo a extremo</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&lt; 12 s</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17-20 s</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FFFFF"/>
                    </a:solidFill>
                  </a:tcPr>
                </a:tc>
              </a:tr>
              <a:tr h="365760">
                <a:tc>
                  <a:txBody>
                    <a:bodyPr/>
                    <a:lstStyle/>
                    <a:p>
                      <a:pPr algn="l">
                        <a:lnSpc>
                          <a:spcPct val="100000"/>
                        </a:lnSpc>
                        <a:spcAft>
                          <a:spcPts val="0"/>
                        </a:spcAft>
                      </a:pPr>
                      <a:r>
                        <a:rPr sz="1100" b="1">
                          <a:solidFill>
                            <a:srgbClr val="0B1F1A"/>
                          </a:solidFill>
                          <a:latin typeface="Calibri"/>
                        </a:rPr>
                        <a:t>Concordancia con evaluador humano</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κ ≥ 0,65</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a:t>
                      </a:r>
                    </a:p>
                  </a:txBody>
                  <a:tcPr marL="82296" marR="82296" marT="54864" marB="54864">
                    <a:solidFill>
                      <a:srgbClr val="F7F8F6"/>
                    </a:solidFill>
                  </a:tcPr>
                </a:tc>
                <a:tc>
                  <a:txBody>
                    <a:bodyPr/>
                    <a:lstStyle/>
                    <a:p>
                      <a:pPr algn="l">
                        <a:lnSpc>
                          <a:spcPct val="100000"/>
                        </a:lnSpc>
                        <a:spcAft>
                          <a:spcPts val="0"/>
                        </a:spcAft>
                      </a:pPr>
                      <a:r>
                        <a:rPr sz="1100" b="0">
                          <a:solidFill>
                            <a:srgbClr val="2C4740"/>
                          </a:solidFill>
                          <a:latin typeface="Calibri"/>
                        </a:rPr>
                        <a:t/>
                      </a:r>
                    </a:p>
                  </a:txBody>
                  <a:tcPr marL="82296" marR="82296" marT="54864" marB="54864">
                    <a:solidFill>
                      <a:srgbClr val="F7F8F6"/>
                    </a:solidFill>
                  </a:tcPr>
                </a:tc>
              </a:tr>
            </a:tbl>
          </a:graphicData>
        </a:graphic>
      </p:graphicFrame>
      <p:sp>
        <p:nvSpPr>
          <p:cNvPr id="5" name="Rounded Rectangle 4"/>
          <p:cNvSpPr/>
          <p:nvPr/>
        </p:nvSpPr>
        <p:spPr>
          <a:xfrm>
            <a:off x="8732520" y="2551176"/>
            <a:ext cx="493776" cy="214884"/>
          </a:xfrm>
          <a:prstGeom prst="roundRect">
            <a:avLst>
              <a:gd name="adj" fmla="val 6000"/>
            </a:avLst>
          </a:prstGeom>
          <a:solidFill>
            <a:srgbClr val="E6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32520" y="2585008"/>
            <a:ext cx="493776"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0E7C5A"/>
                </a:solidFill>
                <a:latin typeface="Consolas"/>
              </a:rPr>
              <a:t>CUMPLE</a:t>
            </a:r>
          </a:p>
        </p:txBody>
      </p:sp>
      <p:sp>
        <p:nvSpPr>
          <p:cNvPr id="7" name="Rounded Rectangle 6"/>
          <p:cNvSpPr/>
          <p:nvPr/>
        </p:nvSpPr>
        <p:spPr>
          <a:xfrm>
            <a:off x="8732520" y="2916936"/>
            <a:ext cx="493776" cy="214884"/>
          </a:xfrm>
          <a:prstGeom prst="roundRect">
            <a:avLst>
              <a:gd name="adj" fmla="val 6000"/>
            </a:avLst>
          </a:prstGeom>
          <a:solidFill>
            <a:srgbClr val="E6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0" y="2950768"/>
            <a:ext cx="493776"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0E7C5A"/>
                </a:solidFill>
                <a:latin typeface="Consolas"/>
              </a:rPr>
              <a:t>CUMPLE</a:t>
            </a:r>
          </a:p>
        </p:txBody>
      </p:sp>
      <p:sp>
        <p:nvSpPr>
          <p:cNvPr id="9" name="Rounded Rectangle 8"/>
          <p:cNvSpPr/>
          <p:nvPr/>
        </p:nvSpPr>
        <p:spPr>
          <a:xfrm>
            <a:off x="8732520" y="3282696"/>
            <a:ext cx="493776" cy="214884"/>
          </a:xfrm>
          <a:prstGeom prst="roundRect">
            <a:avLst>
              <a:gd name="adj" fmla="val 6000"/>
            </a:avLst>
          </a:prstGeom>
          <a:solidFill>
            <a:srgbClr val="E6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32520" y="3316528"/>
            <a:ext cx="493776"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0E7C5A"/>
                </a:solidFill>
                <a:latin typeface="Consolas"/>
              </a:rPr>
              <a:t>CUMPLE</a:t>
            </a:r>
          </a:p>
        </p:txBody>
      </p:sp>
      <p:sp>
        <p:nvSpPr>
          <p:cNvPr id="11" name="Rounded Rectangle 10"/>
          <p:cNvSpPr/>
          <p:nvPr/>
        </p:nvSpPr>
        <p:spPr>
          <a:xfrm>
            <a:off x="8732520" y="3648456"/>
            <a:ext cx="493776" cy="214884"/>
          </a:xfrm>
          <a:prstGeom prst="roundRect">
            <a:avLst>
              <a:gd name="adj" fmla="val 6000"/>
            </a:avLst>
          </a:prstGeom>
          <a:solidFill>
            <a:srgbClr val="E6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20" y="3682288"/>
            <a:ext cx="493776"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0E7C5A"/>
                </a:solidFill>
                <a:latin typeface="Consolas"/>
              </a:rPr>
              <a:t>CUMPLE</a:t>
            </a:r>
          </a:p>
        </p:txBody>
      </p:sp>
      <p:sp>
        <p:nvSpPr>
          <p:cNvPr id="13" name="Rounded Rectangle 12"/>
          <p:cNvSpPr/>
          <p:nvPr/>
        </p:nvSpPr>
        <p:spPr>
          <a:xfrm>
            <a:off x="8732520" y="4014216"/>
            <a:ext cx="1024128" cy="214884"/>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4048048"/>
            <a:ext cx="1024128"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B45309"/>
                </a:solidFill>
                <a:latin typeface="Consolas"/>
              </a:rPr>
              <a:t>FUERA DE OBJETIVO — FALTA STREAMING</a:t>
            </a:r>
          </a:p>
        </p:txBody>
      </p:sp>
      <p:sp>
        <p:nvSpPr>
          <p:cNvPr id="15" name="Rounded Rectangle 14"/>
          <p:cNvSpPr/>
          <p:nvPr/>
        </p:nvSpPr>
        <p:spPr>
          <a:xfrm>
            <a:off x="8732520" y="4379976"/>
            <a:ext cx="1097280" cy="214884"/>
          </a:xfrm>
          <a:prstGeom prst="roundRect">
            <a:avLst>
              <a:gd name="adj" fmla="val 6000"/>
            </a:avLst>
          </a:prstGeom>
          <a:solidFill>
            <a:srgbClr val="E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32520" y="4413808"/>
            <a:ext cx="1097280" cy="182880"/>
          </a:xfrm>
          <a:prstGeom prst="rect">
            <a:avLst/>
          </a:prstGeom>
          <a:noFill/>
        </p:spPr>
        <p:txBody>
          <a:bodyPr wrap="square" lIns="0" rIns="0" tIns="0" bIns="0" anchor="ctr">
            <a:spAutoFit/>
          </a:bodyPr>
          <a:lstStyle/>
          <a:p>
            <a:pPr algn="ctr">
              <a:lnSpc>
                <a:spcPct val="100000"/>
              </a:lnSpc>
              <a:spcAft>
                <a:spcPts val="0"/>
              </a:spcAft>
            </a:pPr>
            <a:r>
              <a:rPr sz="750" b="0" spc="90">
                <a:solidFill>
                  <a:srgbClr val="5A6B65"/>
                </a:solidFill>
                <a:latin typeface="Consolas"/>
              </a:rPr>
              <a:t>SIN VALIDAR — ES NUESTRO SIGUIENTE HITO</a:t>
            </a:r>
          </a:p>
        </p:txBody>
      </p:sp>
      <p:sp>
        <p:nvSpPr>
          <p:cNvPr id="17" name="TextBox 16"/>
          <p:cNvSpPr txBox="1"/>
          <p:nvPr/>
        </p:nvSpPr>
        <p:spPr>
          <a:xfrm>
            <a:off x="658368" y="4892040"/>
            <a:ext cx="10424160" cy="640080"/>
          </a:xfrm>
          <a:prstGeom prst="rect">
            <a:avLst/>
          </a:prstGeom>
          <a:noFill/>
        </p:spPr>
        <p:txBody>
          <a:bodyPr wrap="square" lIns="0" rIns="0" tIns="0" bIns="0" anchor="t">
            <a:spAutoFit/>
          </a:bodyPr>
          <a:lstStyle/>
          <a:p>
            <a:pPr>
              <a:lnSpc>
                <a:spcPct val="135000"/>
              </a:lnSpc>
              <a:spcAft>
                <a:spcPts val="0"/>
              </a:spcAft>
            </a:pPr>
            <a:r>
              <a:rPr sz="1200" b="1">
                <a:solidFill>
                  <a:srgbClr val="0B1F1A"/>
                </a:solidFill>
                <a:latin typeface="Calibri"/>
              </a:rPr>
              <a:t>Margen sobre el precio: </a:t>
            </a:r>
            <a:r>
              <a:rPr sz="1200" b="0">
                <a:solidFill>
                  <a:srgbClr val="2C4740"/>
                </a:solidFill>
                <a:latin typeface="Calibri"/>
              </a:rPr>
              <a:t>tres ejercicios por candidato cuestan 4,2 céntimos de IA frente a los 49 € que paga la empresa. La partida de IA no condiciona el negocio ni a gran escala.</a:t>
            </a:r>
          </a:p>
        </p:txBody>
      </p:sp>
      <p:sp>
        <p:nvSpPr>
          <p:cNvPr id="18" name="TextBox 17"/>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MOTOR DE IA</a:t>
            </a:r>
          </a:p>
        </p:txBody>
      </p:sp>
      <p:sp>
        <p:nvSpPr>
          <p:cNvPr id="19" name="TextBox 18"/>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CUMPLIMIENTO POR DISEÑO</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Un sistema de </a:t>
            </a:r>
            <a:r>
              <a:rPr sz="3400" b="1">
                <a:solidFill>
                  <a:srgbClr val="0E7C5A"/>
                </a:solidFill>
                <a:latin typeface="Calibri Light"/>
              </a:rPr>
              <a:t>alto riesgo tratado como tal.</a:t>
            </a:r>
          </a:p>
        </p:txBody>
      </p:sp>
      <p:sp>
        <p:nvSpPr>
          <p:cNvPr id="4" name="TextBox 3"/>
          <p:cNvSpPr txBox="1"/>
          <p:nvPr/>
        </p:nvSpPr>
        <p:spPr>
          <a:xfrm>
            <a:off x="658368" y="1965960"/>
            <a:ext cx="10241280" cy="548640"/>
          </a:xfrm>
          <a:prstGeom prst="rect">
            <a:avLst/>
          </a:prstGeom>
          <a:noFill/>
        </p:spPr>
        <p:txBody>
          <a:bodyPr wrap="square" lIns="0" rIns="0" tIns="0" bIns="0" anchor="t">
            <a:spAutoFit/>
          </a:bodyPr>
          <a:lstStyle/>
          <a:p>
            <a:pPr algn="l">
              <a:lnSpc>
                <a:spcPct val="135000"/>
              </a:lnSpc>
              <a:spcAft>
                <a:spcPts val="0"/>
              </a:spcAft>
            </a:pPr>
            <a:r>
              <a:rPr sz="1250" b="0">
                <a:solidFill>
                  <a:srgbClr val="2C4740"/>
                </a:solidFill>
                <a:latin typeface="Calibri"/>
              </a:rPr>
              <a:t>El Anexo III del Reglamento UE 2024/1689 clasifica la contratación asistida por IA como alto riesgo. No lo hemos tratado como un trámite posterior, sino como requisito de diseño.</a:t>
            </a:r>
          </a:p>
        </p:txBody>
      </p:sp>
      <p:sp>
        <p:nvSpPr>
          <p:cNvPr id="5" name="Rounded Rectangle 4"/>
          <p:cNvSpPr/>
          <p:nvPr/>
        </p:nvSpPr>
        <p:spPr>
          <a:xfrm>
            <a:off x="658368" y="2788920"/>
            <a:ext cx="534924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2656"/>
            <a:ext cx="4946904" cy="101498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ARTÍCULO 14 · SUPERVISIÓN HUMANA</a:t>
            </a:r>
          </a:p>
          <a:p>
            <a:pPr algn="l">
              <a:lnSpc>
                <a:spcPct val="105000"/>
              </a:lnSpc>
              <a:spcAft>
                <a:spcPts val="500"/>
              </a:spcAft>
            </a:pPr>
            <a:r>
              <a:rPr sz="1300" b="1">
                <a:solidFill>
                  <a:srgbClr val="0B1F1A"/>
                </a:solidFill>
                <a:latin typeface="Calibri Light"/>
              </a:rPr>
              <a:t>El score informa, no decide</a:t>
            </a:r>
          </a:p>
          <a:p>
            <a:pPr algn="l">
              <a:lnSpc>
                <a:spcPct val="128000"/>
              </a:lnSpc>
              <a:spcAft>
                <a:spcPts val="0"/>
              </a:spcAft>
            </a:pPr>
            <a:r>
              <a:rPr sz="1100" b="0">
                <a:solidFill>
                  <a:srgbClr val="2C4740"/>
                </a:solidFill>
                <a:latin typeface="Calibri"/>
              </a:rPr>
              <a:t>La puntuación ordena el pool; la decisión de contratar sigue siendo de la empresa. En ningún punto el sistema descarta a nadie automáticamente.</a:t>
            </a:r>
          </a:p>
        </p:txBody>
      </p:sp>
      <p:sp>
        <p:nvSpPr>
          <p:cNvPr id="7" name="Rounded Rectangle 6"/>
          <p:cNvSpPr/>
          <p:nvPr/>
        </p:nvSpPr>
        <p:spPr>
          <a:xfrm>
            <a:off x="6190488" y="2788920"/>
            <a:ext cx="534924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2962656"/>
            <a:ext cx="4946904" cy="101498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ARTÍCULO 13 · EXPLICABILIDAD</a:t>
            </a:r>
          </a:p>
          <a:p>
            <a:pPr algn="l">
              <a:lnSpc>
                <a:spcPct val="105000"/>
              </a:lnSpc>
              <a:spcAft>
                <a:spcPts val="500"/>
              </a:spcAft>
            </a:pPr>
            <a:r>
              <a:rPr sz="1300" b="1">
                <a:solidFill>
                  <a:srgbClr val="0B1F1A"/>
                </a:solidFill>
                <a:latin typeface="Calibri Light"/>
              </a:rPr>
              <a:t>Razonamiento criterio a criterio</a:t>
            </a:r>
          </a:p>
          <a:p>
            <a:pPr algn="l">
              <a:lnSpc>
                <a:spcPct val="128000"/>
              </a:lnSpc>
              <a:spcAft>
                <a:spcPts val="0"/>
              </a:spcAft>
            </a:pPr>
            <a:r>
              <a:rPr sz="1100" b="0">
                <a:solidFill>
                  <a:srgbClr val="2C4740"/>
                </a:solidFill>
                <a:latin typeface="Calibri"/>
              </a:rPr>
              <a:t>Cada nota va acompañada de la justificación de cada criterio. No es un número opaco que nadie pueda discutir.</a:t>
            </a:r>
          </a:p>
        </p:txBody>
      </p:sp>
      <p:sp>
        <p:nvSpPr>
          <p:cNvPr id="9" name="Rounded Rectangle 8"/>
          <p:cNvSpPr/>
          <p:nvPr/>
        </p:nvSpPr>
        <p:spPr>
          <a:xfrm>
            <a:off x="658368" y="4270248"/>
            <a:ext cx="534924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443984"/>
            <a:ext cx="4946904" cy="101498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ARTÍCULO 12 · TRAZABILIDAD</a:t>
            </a:r>
          </a:p>
          <a:p>
            <a:pPr algn="l">
              <a:lnSpc>
                <a:spcPct val="105000"/>
              </a:lnSpc>
              <a:spcAft>
                <a:spcPts val="500"/>
              </a:spcAft>
            </a:pPr>
            <a:r>
              <a:rPr sz="1300" b="1">
                <a:solidFill>
                  <a:srgbClr val="0B1F1A"/>
                </a:solidFill>
                <a:latin typeface="Calibri Light"/>
              </a:rPr>
              <a:t>Registro de auditoría persistente</a:t>
            </a:r>
          </a:p>
          <a:p>
            <a:pPr algn="l">
              <a:lnSpc>
                <a:spcPct val="128000"/>
              </a:lnSpc>
              <a:spcAft>
                <a:spcPts val="0"/>
              </a:spcAft>
            </a:pPr>
            <a:r>
              <a:rPr sz="1100" b="0">
                <a:solidFill>
                  <a:srgbClr val="2C4740"/>
                </a:solidFill>
                <a:latin typeface="Calibri"/>
              </a:rPr>
              <a:t>Cada evaluación guarda respuesta, criterios, feedback, tokens y coste real. Es consultable desde el panel de administración.</a:t>
            </a:r>
          </a:p>
        </p:txBody>
      </p:sp>
      <p:sp>
        <p:nvSpPr>
          <p:cNvPr id="11" name="Rounded Rectangle 10"/>
          <p:cNvSpPr/>
          <p:nvPr/>
        </p:nvSpPr>
        <p:spPr>
          <a:xfrm>
            <a:off x="6190488" y="4270248"/>
            <a:ext cx="534924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1656" y="4443984"/>
            <a:ext cx="4946904" cy="101498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RGPD · MINIMIZACIÓN</a:t>
            </a:r>
          </a:p>
          <a:p>
            <a:pPr algn="l">
              <a:lnSpc>
                <a:spcPct val="105000"/>
              </a:lnSpc>
              <a:spcAft>
                <a:spcPts val="500"/>
              </a:spcAft>
            </a:pPr>
            <a:r>
              <a:rPr sz="1300" b="1">
                <a:solidFill>
                  <a:srgbClr val="0B1F1A"/>
                </a:solidFill>
                <a:latin typeface="Calibri Light"/>
              </a:rPr>
              <a:t>El evaluador nunca ve a la persona</a:t>
            </a:r>
          </a:p>
          <a:p>
            <a:pPr algn="l">
              <a:lnSpc>
                <a:spcPct val="128000"/>
              </a:lnSpc>
              <a:spcAft>
                <a:spcPts val="0"/>
              </a:spcAft>
            </a:pPr>
            <a:r>
              <a:rPr sz="1100" b="0">
                <a:solidFill>
                  <a:srgbClr val="2C4740"/>
                </a:solidFill>
                <a:latin typeface="Calibri"/>
              </a:rPr>
              <a:t>Ni nombre, ni edad, ni género, ni foto. El anonimato estructural es el control anti-sesgo más eficaz disponible.</a:t>
            </a:r>
          </a:p>
        </p:txBody>
      </p:sp>
      <p:sp>
        <p:nvSpPr>
          <p:cNvPr id="13" name="TextBox 12"/>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MOTOR DE IA</a:t>
            </a:r>
          </a:p>
        </p:txBody>
      </p:sp>
      <p:sp>
        <p:nvSpPr>
          <p:cNvPr id="14" name="TextBox 13"/>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2103120"/>
            <a:ext cx="10881360" cy="274320"/>
          </a:xfrm>
          <a:prstGeom prst="rect">
            <a:avLst/>
          </a:prstGeom>
          <a:noFill/>
        </p:spPr>
        <p:txBody>
          <a:bodyPr wrap="square" lIns="0" rIns="0" tIns="0" bIns="0" anchor="t">
            <a:spAutoFit/>
          </a:bodyPr>
          <a:lstStyle/>
          <a:p>
            <a:pPr algn="l">
              <a:lnSpc>
                <a:spcPct val="100000"/>
              </a:lnSpc>
              <a:spcAft>
                <a:spcPts val="0"/>
              </a:spcAft>
            </a:pPr>
            <a:r>
              <a:rPr sz="1050" b="0" spc="220">
                <a:solidFill>
                  <a:srgbClr val="34D399"/>
                </a:solidFill>
                <a:latin typeface="Consolas"/>
              </a:rPr>
              <a:t>ACTO IV</a:t>
            </a:r>
          </a:p>
        </p:txBody>
      </p:sp>
      <p:sp>
        <p:nvSpPr>
          <p:cNvPr id="3" name="TextBox 2"/>
          <p:cNvSpPr txBox="1"/>
          <p:nvPr/>
        </p:nvSpPr>
        <p:spPr>
          <a:xfrm>
            <a:off x="658368" y="2514600"/>
            <a:ext cx="9144000" cy="1051560"/>
          </a:xfrm>
          <a:prstGeom prst="rect">
            <a:avLst/>
          </a:prstGeom>
          <a:noFill/>
        </p:spPr>
        <p:txBody>
          <a:bodyPr wrap="square" lIns="0" rIns="0" tIns="0" bIns="0" anchor="t">
            <a:spAutoFit/>
          </a:bodyPr>
          <a:lstStyle/>
          <a:p>
            <a:pPr>
              <a:lnSpc>
                <a:spcPct val="98000"/>
              </a:lnSpc>
            </a:pPr>
            <a:r>
              <a:rPr sz="4400" b="1">
                <a:solidFill>
                  <a:srgbClr val="EAF5F0"/>
                </a:solidFill>
                <a:latin typeface="Calibri Light"/>
              </a:rPr>
              <a:t>SkillPass: la capa </a:t>
            </a:r>
            <a:r>
              <a:rPr sz="4400" b="1">
                <a:solidFill>
                  <a:srgbClr val="34D399"/>
                </a:solidFill>
                <a:latin typeface="Calibri Light"/>
              </a:rPr>
              <a:t>fintech.</a:t>
            </a:r>
          </a:p>
        </p:txBody>
      </p:sp>
      <p:sp>
        <p:nvSpPr>
          <p:cNvPr id="4" name="TextBox 3"/>
          <p:cNvSpPr txBox="1"/>
          <p:nvPr/>
        </p:nvSpPr>
        <p:spPr>
          <a:xfrm>
            <a:off x="658368" y="3977639"/>
            <a:ext cx="8412480" cy="73152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Si la evaluación es buena, el siguiente problema es de confianza: ¿cómo prueba el candidato ese resultado fuera de nuestra plataforma?</a:t>
            </a:r>
          </a:p>
        </p:txBody>
      </p:sp>
      <p:sp>
        <p:nvSpPr>
          <p:cNvPr id="5" name="TextBox 4"/>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SKILLPASS</a:t>
            </a:r>
          </a:p>
        </p:txBody>
      </p:sp>
      <p:sp>
        <p:nvSpPr>
          <p:cNvPr id="6" name="TextBox 5"/>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POR QUÉ NO BASTA CON UN CERTIFICADO</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Un PDF se edita en </a:t>
            </a:r>
            <a:r>
              <a:rPr sz="3400" b="1">
                <a:solidFill>
                  <a:srgbClr val="0E7C5A"/>
                </a:solidFill>
                <a:latin typeface="Calibri Light"/>
              </a:rPr>
              <a:t>dos minutos.</a:t>
            </a:r>
          </a:p>
        </p:txBody>
      </p:sp>
      <p:sp>
        <p:nvSpPr>
          <p:cNvPr id="4" name="TextBox 3"/>
          <p:cNvSpPr txBox="1"/>
          <p:nvPr/>
        </p:nvSpPr>
        <p:spPr>
          <a:xfrm>
            <a:off x="658368" y="2148840"/>
            <a:ext cx="5577840" cy="2194560"/>
          </a:xfrm>
          <a:prstGeom prst="rect">
            <a:avLst/>
          </a:prstGeom>
          <a:noFill/>
        </p:spPr>
        <p:txBody>
          <a:bodyPr wrap="square" lIns="0" rIns="0" tIns="0" bIns="0" anchor="t">
            <a:spAutoFit/>
          </a:bodyPr>
          <a:lstStyle/>
          <a:p>
            <a:pPr>
              <a:lnSpc>
                <a:spcPct val="132000"/>
              </a:lnSpc>
              <a:spcAft>
                <a:spcPts val="1200"/>
              </a:spcAft>
            </a:pPr>
            <a:r>
              <a:rPr sz="1250">
                <a:solidFill>
                  <a:srgbClr val="0E7C5A"/>
                </a:solidFill>
                <a:latin typeface="Calibri"/>
              </a:rPr>
              <a:t>▪  </a:t>
            </a:r>
            <a:r>
              <a:rPr sz="1250" b="1">
                <a:solidFill>
                  <a:srgbClr val="0B1F1A"/>
                </a:solidFill>
                <a:latin typeface="Calibri"/>
              </a:rPr>
              <a:t>Un PDF </a:t>
            </a:r>
            <a:r>
              <a:rPr sz="1250" b="0">
                <a:solidFill>
                  <a:srgbClr val="2C4740"/>
                </a:solidFill>
                <a:latin typeface="Calibri"/>
              </a:rPr>
              <a:t>lo modifica cualquiera con un editor. No prueba nada.</a:t>
            </a:r>
          </a:p>
          <a:p>
            <a:pPr>
              <a:lnSpc>
                <a:spcPct val="132000"/>
              </a:lnSpc>
              <a:spcAft>
                <a:spcPts val="1200"/>
              </a:spcAft>
            </a:pPr>
            <a:r>
              <a:rPr sz="1250">
                <a:solidFill>
                  <a:srgbClr val="0E7C5A"/>
                </a:solidFill>
                <a:latin typeface="Calibri"/>
              </a:rPr>
              <a:t>▪  </a:t>
            </a:r>
            <a:r>
              <a:rPr sz="1250" b="1">
                <a:solidFill>
                  <a:srgbClr val="0B1F1A"/>
                </a:solidFill>
                <a:latin typeface="Calibri"/>
              </a:rPr>
              <a:t>Un perfil de LinkedIn </a:t>
            </a:r>
            <a:r>
              <a:rPr sz="1250" b="0">
                <a:solidFill>
                  <a:srgbClr val="2C4740"/>
                </a:solidFill>
                <a:latin typeface="Calibri"/>
              </a:rPr>
              <a:t>lo escribe el propio candidato. Es una declaración, no una prueba.</a:t>
            </a:r>
          </a:p>
          <a:p>
            <a:pPr>
              <a:lnSpc>
                <a:spcPct val="132000"/>
              </a:lnSpc>
              <a:spcAft>
                <a:spcPts val="1200"/>
              </a:spcAft>
            </a:pPr>
            <a:r>
              <a:rPr sz="1250">
                <a:solidFill>
                  <a:srgbClr val="0E7C5A"/>
                </a:solidFill>
                <a:latin typeface="Calibri"/>
              </a:rPr>
              <a:t>▪  </a:t>
            </a:r>
            <a:r>
              <a:rPr sz="1250" b="1">
                <a:solidFill>
                  <a:srgbClr val="0B1F1A"/>
                </a:solidFill>
                <a:latin typeface="Calibri"/>
              </a:rPr>
              <a:t>Un certificado alojado por nosotros </a:t>
            </a:r>
            <a:r>
              <a:rPr sz="1250" b="0">
                <a:solidFill>
                  <a:srgbClr val="2C4740"/>
                </a:solidFill>
                <a:latin typeface="Calibri"/>
              </a:rPr>
              <a:t>obliga a la empresa a confiar en TalentPact — y a que TalentPact siga existiendo dentro de cinco años.</a:t>
            </a:r>
          </a:p>
        </p:txBody>
      </p:sp>
      <p:sp>
        <p:nvSpPr>
          <p:cNvPr id="5" name="Rectangle 4"/>
          <p:cNvSpPr/>
          <p:nvPr/>
        </p:nvSpPr>
        <p:spPr>
          <a:xfrm>
            <a:off x="658368" y="4206240"/>
            <a:ext cx="32004" cy="566928"/>
          </a:xfrm>
          <a:prstGeom prst="rect">
            <a:avLst/>
          </a:prstGeom>
          <a:solidFill>
            <a:srgbClr val="0E7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4178808"/>
            <a:ext cx="5486400" cy="640080"/>
          </a:xfrm>
          <a:prstGeom prst="rect">
            <a:avLst/>
          </a:prstGeom>
          <a:noFill/>
        </p:spPr>
        <p:txBody>
          <a:bodyPr wrap="square" lIns="0" rIns="0" tIns="0" bIns="0" anchor="t">
            <a:spAutoFit/>
          </a:bodyPr>
          <a:lstStyle/>
          <a:p>
            <a:pPr algn="l">
              <a:lnSpc>
                <a:spcPct val="120000"/>
              </a:lnSpc>
              <a:spcAft>
                <a:spcPts val="0"/>
              </a:spcAft>
            </a:pPr>
            <a:r>
              <a:rPr sz="1400" b="1">
                <a:solidFill>
                  <a:srgbClr val="0B1F1A"/>
                </a:solidFill>
                <a:latin typeface="Calibri Light"/>
              </a:rPr>
              <a:t>La credencial tiene que poder comprobarse sin confiar en quien la emitió.</a:t>
            </a:r>
          </a:p>
        </p:txBody>
      </p:sp>
      <p:sp>
        <p:nvSpPr>
          <p:cNvPr id="7" name="Rounded Rectangle 6"/>
          <p:cNvSpPr/>
          <p:nvPr/>
        </p:nvSpPr>
        <p:spPr>
          <a:xfrm>
            <a:off x="6720840" y="2148840"/>
            <a:ext cx="4800600" cy="2377440"/>
          </a:xfrm>
          <a:prstGeom prst="roundRect">
            <a:avLst>
              <a:gd name="adj" fmla="val 6000"/>
            </a:avLst>
          </a:prstGeom>
          <a:solidFill>
            <a:srgbClr val="08221C"/>
          </a:solidFill>
          <a:ln w="9525">
            <a:solidFill>
              <a:srgbClr val="0822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22008" y="2322576"/>
            <a:ext cx="4398264" cy="2066544"/>
          </a:xfrm>
          <a:prstGeom prst="rect">
            <a:avLst/>
          </a:prstGeom>
          <a:noFill/>
        </p:spPr>
        <p:txBody>
          <a:bodyPr wrap="square" lIns="0" rIns="0" tIns="0" bIns="0" anchor="t">
            <a:spAutoFit/>
          </a:bodyPr>
          <a:lstStyle/>
          <a:p>
            <a:pPr algn="l">
              <a:lnSpc>
                <a:spcPct val="100000"/>
              </a:lnSpc>
              <a:spcAft>
                <a:spcPts val="600"/>
              </a:spcAft>
            </a:pPr>
            <a:r>
              <a:rPr sz="850" b="0" spc="130">
                <a:solidFill>
                  <a:srgbClr val="34D399"/>
                </a:solidFill>
                <a:latin typeface="Consolas"/>
              </a:rPr>
              <a:t>LO QUE RESUELVE LA BLOCKCHAIN</a:t>
            </a:r>
          </a:p>
          <a:p>
            <a:pPr algn="l">
              <a:lnSpc>
                <a:spcPct val="105000"/>
              </a:lnSpc>
              <a:spcAft>
                <a:spcPts val="500"/>
              </a:spcAft>
            </a:pPr>
            <a:r>
              <a:rPr sz="1300" b="1">
                <a:solidFill>
                  <a:srgbClr val="EAF5F0"/>
                </a:solidFill>
                <a:latin typeface="Calibri Light"/>
              </a:rPr>
              <a:t>Un sello que nadie puede reescribir</a:t>
            </a:r>
          </a:p>
          <a:p>
            <a:pPr algn="l">
              <a:lnSpc>
                <a:spcPct val="128000"/>
              </a:lnSpc>
              <a:spcAft>
                <a:spcPts val="0"/>
              </a:spcAft>
            </a:pPr>
            <a:r>
              <a:rPr sz="1100" b="0">
                <a:solidFill>
                  <a:srgbClr val="9CBBB0"/>
                </a:solidFill>
                <a:latin typeface="Calibri"/>
              </a:rPr>
              <a:t>No usamos blockchain para almacenar el currículum, ni para emitir un token. La usamos para lo único que hace mejor que una base de datos: dar fe de que un documento existía, con ese contenido exacto, en una fecha concreta — y que desde entonces nadie lo ha tocado, tampoco nosotros.</a:t>
            </a:r>
          </a:p>
        </p:txBody>
      </p:sp>
      <p:sp>
        <p:nvSpPr>
          <p:cNvPr id="9" name="TextBox 8"/>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SKILLPASS</a:t>
            </a:r>
          </a:p>
        </p:txBody>
      </p:sp>
      <p:sp>
        <p:nvSpPr>
          <p:cNvPr id="10" name="TextBox 9"/>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CÓMO FUNCIONA</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Solo la huella sale a la cadena.</a:t>
            </a:r>
          </a:p>
        </p:txBody>
      </p:sp>
      <p:sp>
        <p:nvSpPr>
          <p:cNvPr id="4" name="Rounded Rectangle 3"/>
          <p:cNvSpPr/>
          <p:nvPr/>
        </p:nvSpPr>
        <p:spPr>
          <a:xfrm>
            <a:off x="658368" y="2103120"/>
            <a:ext cx="265176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49424"/>
            <a:ext cx="2322576" cy="1051560"/>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01</a:t>
            </a:r>
          </a:p>
          <a:p>
            <a:pPr algn="l">
              <a:lnSpc>
                <a:spcPct val="100000"/>
              </a:lnSpc>
              <a:spcAft>
                <a:spcPts val="400"/>
              </a:spcAft>
            </a:pPr>
            <a:r>
              <a:rPr sz="1200" b="1">
                <a:solidFill>
                  <a:srgbClr val="0B1F1A"/>
                </a:solidFill>
                <a:latin typeface="Calibri Light"/>
              </a:rPr>
              <a:t>Se compone el CV</a:t>
            </a:r>
          </a:p>
          <a:p>
            <a:pPr algn="l">
              <a:lnSpc>
                <a:spcPct val="125000"/>
              </a:lnSpc>
              <a:spcAft>
                <a:spcPts val="0"/>
              </a:spcAft>
            </a:pPr>
            <a:r>
              <a:rPr sz="950" b="0">
                <a:solidFill>
                  <a:srgbClr val="5A6B65"/>
                </a:solidFill>
                <a:latin typeface="Calibri"/>
              </a:rPr>
              <a:t>Un JSON con el mejor resultado por habilidad, con orden de claves estable para que el hash sea reproducible.</a:t>
            </a:r>
          </a:p>
        </p:txBody>
      </p:sp>
      <p:sp>
        <p:nvSpPr>
          <p:cNvPr id="6" name="Rounded Rectangle 5"/>
          <p:cNvSpPr/>
          <p:nvPr/>
        </p:nvSpPr>
        <p:spPr>
          <a:xfrm>
            <a:off x="3401568" y="2103120"/>
            <a:ext cx="265176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2249424"/>
            <a:ext cx="2322576" cy="1051560"/>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02</a:t>
            </a:r>
          </a:p>
          <a:p>
            <a:pPr algn="l">
              <a:lnSpc>
                <a:spcPct val="100000"/>
              </a:lnSpc>
              <a:spcAft>
                <a:spcPts val="400"/>
              </a:spcAft>
            </a:pPr>
            <a:r>
              <a:rPr sz="1200" b="1">
                <a:solidFill>
                  <a:srgbClr val="0B1F1A"/>
                </a:solidFill>
                <a:latin typeface="Calibri Light"/>
              </a:rPr>
              <a:t>Se calcula la huella</a:t>
            </a:r>
          </a:p>
          <a:p>
            <a:pPr algn="l">
              <a:lnSpc>
                <a:spcPct val="125000"/>
              </a:lnSpc>
              <a:spcAft>
                <a:spcPts val="0"/>
              </a:spcAft>
            </a:pPr>
            <a:r>
              <a:rPr sz="950" b="0">
                <a:solidFill>
                  <a:srgbClr val="5A6B65"/>
                </a:solidFill>
                <a:latin typeface="Calibri"/>
              </a:rPr>
              <a:t>keccak256 del documento. Cambia un punto de una nota y cambia la huella entera.</a:t>
            </a:r>
          </a:p>
        </p:txBody>
      </p:sp>
      <p:sp>
        <p:nvSpPr>
          <p:cNvPr id="8" name="Rounded Rectangle 7"/>
          <p:cNvSpPr/>
          <p:nvPr/>
        </p:nvSpPr>
        <p:spPr>
          <a:xfrm>
            <a:off x="6144768" y="2103120"/>
            <a:ext cx="2651760" cy="1325880"/>
          </a:xfrm>
          <a:prstGeom prst="roundRect">
            <a:avLst>
              <a:gd name="adj" fmla="val 6000"/>
            </a:avLst>
          </a:prstGeom>
          <a:solidFill>
            <a:srgbClr val="08221C"/>
          </a:solidFill>
          <a:ln w="9525">
            <a:solidFill>
              <a:srgbClr val="0822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2249424"/>
            <a:ext cx="2322576" cy="1051560"/>
          </a:xfrm>
          <a:prstGeom prst="rect">
            <a:avLst/>
          </a:prstGeom>
          <a:noFill/>
        </p:spPr>
        <p:txBody>
          <a:bodyPr wrap="square" lIns="0" rIns="0" tIns="0" bIns="0" anchor="t">
            <a:spAutoFit/>
          </a:bodyPr>
          <a:lstStyle/>
          <a:p>
            <a:pPr algn="l">
              <a:lnSpc>
                <a:spcPct val="100000"/>
              </a:lnSpc>
              <a:spcAft>
                <a:spcPts val="500"/>
              </a:spcAft>
            </a:pPr>
            <a:r>
              <a:rPr sz="800" b="0" spc="150">
                <a:solidFill>
                  <a:srgbClr val="34D399"/>
                </a:solidFill>
                <a:latin typeface="Consolas"/>
              </a:rPr>
              <a:t>03</a:t>
            </a:r>
          </a:p>
          <a:p>
            <a:pPr algn="l">
              <a:lnSpc>
                <a:spcPct val="100000"/>
              </a:lnSpc>
              <a:spcAft>
                <a:spcPts val="400"/>
              </a:spcAft>
            </a:pPr>
            <a:r>
              <a:rPr sz="1200" b="1">
                <a:solidFill>
                  <a:srgbClr val="EAF5F0"/>
                </a:solidFill>
                <a:latin typeface="Calibri Light"/>
              </a:rPr>
              <a:t>Se ancla on-chain</a:t>
            </a:r>
          </a:p>
          <a:p>
            <a:pPr algn="l">
              <a:lnSpc>
                <a:spcPct val="125000"/>
              </a:lnSpc>
              <a:spcAft>
                <a:spcPts val="0"/>
              </a:spcAft>
            </a:pPr>
            <a:r>
              <a:rPr sz="950" b="0">
                <a:solidFill>
                  <a:srgbClr val="9CBBB0"/>
                </a:solidFill>
                <a:latin typeface="Calibri"/>
              </a:rPr>
              <a:t>Solo esos 32 bytes viajan al contrato. Los datos personales nunca salen de la UE.</a:t>
            </a:r>
          </a:p>
        </p:txBody>
      </p:sp>
      <p:sp>
        <p:nvSpPr>
          <p:cNvPr id="10" name="Rounded Rectangle 9"/>
          <p:cNvSpPr/>
          <p:nvPr/>
        </p:nvSpPr>
        <p:spPr>
          <a:xfrm>
            <a:off x="8887968" y="2103120"/>
            <a:ext cx="2651760" cy="132588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2249424"/>
            <a:ext cx="2322576" cy="1051560"/>
          </a:xfrm>
          <a:prstGeom prst="rect">
            <a:avLst/>
          </a:prstGeom>
          <a:noFill/>
        </p:spPr>
        <p:txBody>
          <a:bodyPr wrap="square" lIns="0" rIns="0" tIns="0" bIns="0" anchor="t">
            <a:spAutoFit/>
          </a:bodyPr>
          <a:lstStyle/>
          <a:p>
            <a:pPr algn="l">
              <a:lnSpc>
                <a:spcPct val="100000"/>
              </a:lnSpc>
              <a:spcAft>
                <a:spcPts val="500"/>
              </a:spcAft>
            </a:pPr>
            <a:r>
              <a:rPr sz="800" b="0" spc="150">
                <a:solidFill>
                  <a:srgbClr val="0E7C5A"/>
                </a:solidFill>
                <a:latin typeface="Consolas"/>
              </a:rPr>
              <a:t>04</a:t>
            </a:r>
          </a:p>
          <a:p>
            <a:pPr algn="l">
              <a:lnSpc>
                <a:spcPct val="100000"/>
              </a:lnSpc>
              <a:spcAft>
                <a:spcPts val="400"/>
              </a:spcAft>
            </a:pPr>
            <a:r>
              <a:rPr sz="1200" b="1">
                <a:solidFill>
                  <a:srgbClr val="0B1F1A"/>
                </a:solidFill>
                <a:latin typeface="Calibri Light"/>
              </a:rPr>
              <a:t>Cualquiera verifica</a:t>
            </a:r>
          </a:p>
          <a:p>
            <a:pPr algn="l">
              <a:lnSpc>
                <a:spcPct val="125000"/>
              </a:lnSpc>
              <a:spcAft>
                <a:spcPts val="0"/>
              </a:spcAft>
            </a:pPr>
            <a:r>
              <a:rPr sz="950" b="0">
                <a:solidFill>
                  <a:srgbClr val="5A6B65"/>
                </a:solidFill>
                <a:latin typeface="Calibri"/>
              </a:rPr>
              <a:t>Se recalcula la huella del JSON recibido y se busca en el contrato. Sin cuenta, sin gas, sin permiso.</a:t>
            </a:r>
          </a:p>
        </p:txBody>
      </p:sp>
      <p:sp>
        <p:nvSpPr>
          <p:cNvPr id="12" name="Rounded Rectangle 11"/>
          <p:cNvSpPr/>
          <p:nvPr/>
        </p:nvSpPr>
        <p:spPr>
          <a:xfrm>
            <a:off x="658368" y="3794760"/>
            <a:ext cx="5349240" cy="160020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3968496"/>
            <a:ext cx="4946904" cy="128930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LA TENSIÓN QUE RESUELVE</a:t>
            </a:r>
          </a:p>
          <a:p>
            <a:pPr algn="l">
              <a:lnSpc>
                <a:spcPct val="105000"/>
              </a:lnSpc>
              <a:spcAft>
                <a:spcPts val="500"/>
              </a:spcAft>
            </a:pPr>
            <a:r>
              <a:rPr sz="1300" b="1">
                <a:solidFill>
                  <a:srgbClr val="0B1F1A"/>
                </a:solidFill>
                <a:latin typeface="Calibri Light"/>
              </a:rPr>
              <a:t>Inmutable y borrable a la vez</a:t>
            </a:r>
          </a:p>
          <a:p>
            <a:pPr algn="l">
              <a:lnSpc>
                <a:spcPct val="128000"/>
              </a:lnSpc>
              <a:spcAft>
                <a:spcPts val="0"/>
              </a:spcAft>
            </a:pPr>
            <a:r>
              <a:rPr sz="1100" b="0">
                <a:solidFill>
                  <a:srgbClr val="2C4740"/>
                </a:solidFill>
                <a:latin typeface="Calibri"/>
              </a:rPr>
              <a:t>La blockchain es inmutable; el RGPD exige poder borrar. Una huella de 32 bytes no es un dato personal, y el CV real vive off-chain, donde sí se elimina. Al borrarlo, el hash queda huérfano y deja de significar nada.</a:t>
            </a:r>
          </a:p>
        </p:txBody>
      </p:sp>
      <p:sp>
        <p:nvSpPr>
          <p:cNvPr id="14" name="Rounded Rectangle 13"/>
          <p:cNvSpPr/>
          <p:nvPr/>
        </p:nvSpPr>
        <p:spPr>
          <a:xfrm>
            <a:off x="6190488" y="3794760"/>
            <a:ext cx="5349240" cy="160020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1656" y="3968496"/>
            <a:ext cx="4946904" cy="128930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LO QUE ESTO LE DA AL CANDIDATO</a:t>
            </a:r>
          </a:p>
          <a:p>
            <a:pPr algn="l">
              <a:lnSpc>
                <a:spcPct val="105000"/>
              </a:lnSpc>
              <a:spcAft>
                <a:spcPts val="500"/>
              </a:spcAft>
            </a:pPr>
            <a:r>
              <a:rPr sz="1300" b="1">
                <a:solidFill>
                  <a:srgbClr val="0B1F1A"/>
                </a:solidFill>
                <a:latin typeface="Calibri Light"/>
              </a:rPr>
              <a:t>Una credencial que le pertenece</a:t>
            </a:r>
          </a:p>
          <a:p>
            <a:pPr algn="l">
              <a:lnSpc>
                <a:spcPct val="128000"/>
              </a:lnSpc>
              <a:spcAft>
                <a:spcPts val="0"/>
              </a:spcAft>
            </a:pPr>
            <a:r>
              <a:rPr sz="1100" b="0">
                <a:solidFill>
                  <a:srgbClr val="2C4740"/>
                </a:solidFill>
                <a:latin typeface="Calibri"/>
              </a:rPr>
              <a:t>Portable a cualquier plataforma, comprobable por cualquier empresa y válida aunque TalentPact desaparezca. Es el activo que el candidato se lleva consigo.</a:t>
            </a:r>
          </a:p>
        </p:txBody>
      </p:sp>
      <p:sp>
        <p:nvSpPr>
          <p:cNvPr id="16" name="TextBox 15"/>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SKILLPASS</a:t>
            </a:r>
          </a:p>
        </p:txBody>
      </p:sp>
      <p:sp>
        <p:nvSpPr>
          <p:cNvPr id="17" name="TextBox 16"/>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NO ES UNA MAQUETA</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El contrato está desplegado </a:t>
            </a:r>
            <a:r>
              <a:rPr sz="3400" b="1">
                <a:solidFill>
                  <a:srgbClr val="0E7C5A"/>
                </a:solidFill>
                <a:latin typeface="Calibri Light"/>
              </a:rPr>
              <a:t>y es público.</a:t>
            </a:r>
          </a:p>
        </p:txBody>
      </p:sp>
      <p:sp>
        <p:nvSpPr>
          <p:cNvPr id="4" name="Rounded Rectangle 3"/>
          <p:cNvSpPr/>
          <p:nvPr/>
        </p:nvSpPr>
        <p:spPr>
          <a:xfrm>
            <a:off x="658368" y="2084831"/>
            <a:ext cx="10881360" cy="1572768"/>
          </a:xfrm>
          <a:prstGeom prst="roundRect">
            <a:avLst>
              <a:gd name="adj" fmla="val 6000"/>
            </a:avLst>
          </a:prstGeom>
          <a:solidFill>
            <a:srgbClr val="082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5999"/>
            <a:ext cx="10424160" cy="1207008"/>
          </a:xfrm>
          <a:prstGeom prst="rect">
            <a:avLst/>
          </a:prstGeom>
          <a:noFill/>
        </p:spPr>
        <p:txBody>
          <a:bodyPr wrap="square" lIns="0" rIns="0" tIns="0" bIns="0" anchor="t">
            <a:spAutoFit/>
          </a:bodyPr>
          <a:lstStyle/>
          <a:p>
            <a:pPr>
              <a:lnSpc>
                <a:spcPct val="115000"/>
              </a:lnSpc>
              <a:spcAft>
                <a:spcPts val="500"/>
              </a:spcAft>
            </a:pPr>
            <a:r>
              <a:rPr sz="1100">
                <a:solidFill>
                  <a:srgbClr val="6E9587"/>
                </a:solidFill>
                <a:latin typeface="Consolas"/>
              </a:rPr>
              <a:t>Contrato     </a:t>
            </a:r>
            <a:r>
              <a:rPr sz="1100" b="0">
                <a:solidFill>
                  <a:srgbClr val="B9E6D3"/>
                </a:solidFill>
                <a:latin typeface="Consolas"/>
              </a:rPr>
              <a:t>SkillPassRegistry.sol</a:t>
            </a:r>
          </a:p>
          <a:p>
            <a:pPr>
              <a:lnSpc>
                <a:spcPct val="115000"/>
              </a:lnSpc>
              <a:spcAft>
                <a:spcPts val="500"/>
              </a:spcAft>
            </a:pPr>
            <a:r>
              <a:rPr sz="1100">
                <a:solidFill>
                  <a:srgbClr val="6E9587"/>
                </a:solidFill>
                <a:latin typeface="Consolas"/>
              </a:rPr>
              <a:t>Red          </a:t>
            </a:r>
            <a:r>
              <a:rPr sz="1100" b="0">
                <a:solidFill>
                  <a:srgbClr val="B9E6D3"/>
                </a:solidFill>
                <a:latin typeface="Consolas"/>
              </a:rPr>
              <a:t>Ethereum Sepolia  (testnet, chainId 11155111)</a:t>
            </a:r>
          </a:p>
          <a:p>
            <a:pPr>
              <a:lnSpc>
                <a:spcPct val="115000"/>
              </a:lnSpc>
              <a:spcAft>
                <a:spcPts val="500"/>
              </a:spcAft>
            </a:pPr>
            <a:r>
              <a:rPr sz="1100">
                <a:solidFill>
                  <a:srgbClr val="6E9587"/>
                </a:solidFill>
                <a:latin typeface="Consolas"/>
              </a:rPr>
              <a:t>Dirección    </a:t>
            </a:r>
            <a:r>
              <a:rPr sz="1100" b="1">
                <a:solidFill>
                  <a:srgbClr val="34D399"/>
                </a:solidFill>
                <a:latin typeface="Consolas"/>
              </a:rPr>
              <a:t>0x85418F3d978e691C0f784bA63E4cB2826478f73A</a:t>
            </a:r>
          </a:p>
          <a:p>
            <a:pPr>
              <a:lnSpc>
                <a:spcPct val="115000"/>
              </a:lnSpc>
              <a:spcAft>
                <a:spcPts val="500"/>
              </a:spcAft>
            </a:pPr>
            <a:r>
              <a:rPr sz="1100">
                <a:solidFill>
                  <a:srgbClr val="6E9587"/>
                </a:solidFill>
                <a:latin typeface="Consolas"/>
              </a:rPr>
              <a:t>Bloque       </a:t>
            </a:r>
            <a:r>
              <a:rPr sz="1100" b="0">
                <a:solidFill>
                  <a:srgbClr val="B9E6D3"/>
                </a:solidFill>
                <a:latin typeface="Consolas"/>
              </a:rPr>
              <a:t>11523380</a:t>
            </a:r>
          </a:p>
          <a:p>
            <a:pPr>
              <a:lnSpc>
                <a:spcPct val="115000"/>
              </a:lnSpc>
              <a:spcAft>
                <a:spcPts val="500"/>
              </a:spcAft>
            </a:pPr>
            <a:r>
              <a:rPr sz="1100">
                <a:solidFill>
                  <a:srgbClr val="6E9587"/>
                </a:solidFill>
                <a:latin typeface="Consolas"/>
              </a:rPr>
              <a:t>Verificador  </a:t>
            </a:r>
            <a:r>
              <a:rPr sz="1100" b="0">
                <a:solidFill>
                  <a:srgbClr val="B9E6D3"/>
                </a:solidFill>
                <a:latin typeface="Consolas"/>
              </a:rPr>
              <a:t>talentpact.es/verify.html</a:t>
            </a:r>
          </a:p>
        </p:txBody>
      </p:sp>
      <p:sp>
        <p:nvSpPr>
          <p:cNvPr id="6" name="Rounded Rectangle 5"/>
          <p:cNvSpPr/>
          <p:nvPr/>
        </p:nvSpPr>
        <p:spPr>
          <a:xfrm>
            <a:off x="658368" y="3913632"/>
            <a:ext cx="3474720" cy="160020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87368"/>
            <a:ext cx="3072384" cy="128930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DECISIÓN TÉCNICA</a:t>
            </a:r>
          </a:p>
          <a:p>
            <a:pPr algn="l">
              <a:lnSpc>
                <a:spcPct val="105000"/>
              </a:lnSpc>
              <a:spcAft>
                <a:spcPts val="500"/>
              </a:spcAft>
            </a:pPr>
            <a:r>
              <a:rPr sz="1300" b="1">
                <a:solidFill>
                  <a:srgbClr val="0B1F1A"/>
                </a:solidFill>
                <a:latin typeface="Calibri Light"/>
              </a:rPr>
              <a:t>Por qué Sepolia</a:t>
            </a:r>
          </a:p>
          <a:p>
            <a:pPr algn="l">
              <a:lnSpc>
                <a:spcPct val="128000"/>
              </a:lnSpc>
              <a:spcAft>
                <a:spcPts val="0"/>
              </a:spcAft>
            </a:pPr>
            <a:r>
              <a:rPr sz="1100" b="0">
                <a:solidFill>
                  <a:srgbClr val="2C4740"/>
                </a:solidFill>
                <a:latin typeface="Calibri"/>
              </a:rPr>
              <a:t>Los faucets de Polygon Amoy exigían cripto de mainnet. Sepolia permite anclar de verdad a coste cero y enseñar la transacción en Etherscan.</a:t>
            </a:r>
          </a:p>
        </p:txBody>
      </p:sp>
      <p:sp>
        <p:nvSpPr>
          <p:cNvPr id="8" name="Rounded Rectangle 7"/>
          <p:cNvSpPr/>
          <p:nvPr/>
        </p:nvSpPr>
        <p:spPr>
          <a:xfrm>
            <a:off x="4361688" y="3913632"/>
            <a:ext cx="3474720" cy="160020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2856" y="4087368"/>
            <a:ext cx="3072384" cy="128930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ALCANCE REGULATORIO</a:t>
            </a:r>
          </a:p>
          <a:p>
            <a:pPr algn="l">
              <a:lnSpc>
                <a:spcPct val="105000"/>
              </a:lnSpc>
              <a:spcAft>
                <a:spcPts val="500"/>
              </a:spcAft>
            </a:pPr>
            <a:r>
              <a:rPr sz="1300" b="1">
                <a:solidFill>
                  <a:srgbClr val="0B1F1A"/>
                </a:solidFill>
                <a:latin typeface="Calibri Light"/>
              </a:rPr>
              <a:t>El SkillPass no es un criptoactivo</a:t>
            </a:r>
          </a:p>
          <a:p>
            <a:pPr algn="l">
              <a:lnSpc>
                <a:spcPct val="128000"/>
              </a:lnSpc>
              <a:spcAft>
                <a:spcPts val="0"/>
              </a:spcAft>
            </a:pPr>
            <a:r>
              <a:rPr sz="1100" b="0">
                <a:solidFill>
                  <a:srgbClr val="2C4740"/>
                </a:solidFill>
                <a:latin typeface="Calibri"/>
              </a:rPr>
              <a:t>No es transferible, no tiene valor de mercado y no hay custodia. MiCA no aplica. Es una credencial, no un token.</a:t>
            </a:r>
          </a:p>
        </p:txBody>
      </p:sp>
      <p:sp>
        <p:nvSpPr>
          <p:cNvPr id="10" name="Rounded Rectangle 9"/>
          <p:cNvSpPr/>
          <p:nvPr/>
        </p:nvSpPr>
        <p:spPr>
          <a:xfrm>
            <a:off x="8065008" y="3913632"/>
            <a:ext cx="3474720" cy="160020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6176" y="4087368"/>
            <a:ext cx="3072384" cy="128930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HONESTIDAD</a:t>
            </a:r>
          </a:p>
          <a:p>
            <a:pPr algn="l">
              <a:lnSpc>
                <a:spcPct val="105000"/>
              </a:lnSpc>
              <a:spcAft>
                <a:spcPts val="500"/>
              </a:spcAft>
            </a:pPr>
            <a:r>
              <a:rPr sz="1300" b="1">
                <a:solidFill>
                  <a:srgbClr val="0B1F1A"/>
                </a:solidFill>
                <a:latin typeface="Calibri Light"/>
              </a:rPr>
              <a:t>Testnet, y lo decimos</a:t>
            </a:r>
          </a:p>
          <a:p>
            <a:pPr algn="l">
              <a:lnSpc>
                <a:spcPct val="128000"/>
              </a:lnSpc>
              <a:spcAft>
                <a:spcPts val="0"/>
              </a:spcAft>
            </a:pPr>
            <a:r>
              <a:rPr sz="1100" b="0">
                <a:solidFill>
                  <a:srgbClr val="2C4740"/>
                </a:solidFill>
                <a:latin typeface="Calibri"/>
              </a:rPr>
              <a:t>Es una red de pruebas. El contrato y el patrón —hash on-chain, dato off-chain— son idénticos a los que irían a una L2 en producción.</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SKILLPASS</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1371600"/>
            <a:ext cx="10881360" cy="274320"/>
          </a:xfrm>
          <a:prstGeom prst="rect">
            <a:avLst/>
          </a:prstGeom>
          <a:noFill/>
        </p:spPr>
        <p:txBody>
          <a:bodyPr wrap="square" lIns="0" rIns="0" tIns="0" bIns="0" anchor="t">
            <a:spAutoFit/>
          </a:bodyPr>
          <a:lstStyle/>
          <a:p>
            <a:pPr algn="l">
              <a:lnSpc>
                <a:spcPct val="100000"/>
              </a:lnSpc>
              <a:spcAft>
                <a:spcPts val="0"/>
              </a:spcAft>
            </a:pPr>
            <a:r>
              <a:rPr sz="1050" b="0" spc="200">
                <a:solidFill>
                  <a:srgbClr val="34D399"/>
                </a:solidFill>
                <a:latin typeface="Consolas"/>
              </a:rPr>
              <a:t>DEMOSTRACIÓN EN VIVO · 5:30</a:t>
            </a:r>
          </a:p>
        </p:txBody>
      </p:sp>
      <p:sp>
        <p:nvSpPr>
          <p:cNvPr id="3" name="TextBox 2"/>
          <p:cNvSpPr txBox="1"/>
          <p:nvPr/>
        </p:nvSpPr>
        <p:spPr>
          <a:xfrm>
            <a:off x="658368" y="1783080"/>
            <a:ext cx="9144000" cy="1051560"/>
          </a:xfrm>
          <a:prstGeom prst="rect">
            <a:avLst/>
          </a:prstGeom>
          <a:noFill/>
        </p:spPr>
        <p:txBody>
          <a:bodyPr wrap="square" lIns="0" rIns="0" tIns="0" bIns="0" anchor="t">
            <a:spAutoFit/>
          </a:bodyPr>
          <a:lstStyle/>
          <a:p>
            <a:pPr>
              <a:lnSpc>
                <a:spcPct val="98000"/>
              </a:lnSpc>
            </a:pPr>
            <a:r>
              <a:rPr sz="4400" b="1">
                <a:solidFill>
                  <a:srgbClr val="EAF5F0"/>
                </a:solidFill>
                <a:latin typeface="Calibri Light"/>
              </a:rPr>
              <a:t>Vamos a </a:t>
            </a:r>
            <a:r>
              <a:rPr sz="4400" b="1">
                <a:solidFill>
                  <a:srgbClr val="34D399"/>
                </a:solidFill>
                <a:latin typeface="Calibri Light"/>
              </a:rPr>
              <a:t>enseñarlo.</a:t>
            </a:r>
          </a:p>
        </p:txBody>
      </p:sp>
      <p:sp>
        <p:nvSpPr>
          <p:cNvPr id="4" name="Rounded Rectangle 3"/>
          <p:cNvSpPr/>
          <p:nvPr/>
        </p:nvSpPr>
        <p:spPr>
          <a:xfrm>
            <a:off x="658368" y="3429000"/>
            <a:ext cx="2596896" cy="1691640"/>
          </a:xfrm>
          <a:prstGeom prst="roundRect">
            <a:avLst>
              <a:gd name="adj" fmla="val 6000"/>
            </a:avLst>
          </a:prstGeom>
          <a:solidFill>
            <a:srgbClr val="10332B"/>
          </a:solidFill>
          <a:ln w="9525">
            <a:solidFill>
              <a:srgbClr val="2A50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02736"/>
            <a:ext cx="2194560"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34D399"/>
                </a:solidFill>
                <a:latin typeface="Consolas"/>
              </a:rPr>
              <a:t>01 · CANDIDATO</a:t>
            </a:r>
          </a:p>
          <a:p>
            <a:pPr algn="l">
              <a:lnSpc>
                <a:spcPct val="105000"/>
              </a:lnSpc>
              <a:spcAft>
                <a:spcPts val="500"/>
              </a:spcAft>
            </a:pPr>
            <a:r>
              <a:rPr sz="1300" b="1">
                <a:solidFill>
                  <a:srgbClr val="EAF5F0"/>
                </a:solidFill>
                <a:latin typeface="Calibri Light"/>
              </a:rPr>
              <a:t>Corrección real con IA</a:t>
            </a:r>
          </a:p>
          <a:p>
            <a:pPr algn="l">
              <a:lnSpc>
                <a:spcPct val="128000"/>
              </a:lnSpc>
              <a:spcAft>
                <a:spcPts val="0"/>
              </a:spcAft>
            </a:pPr>
            <a:r>
              <a:rPr sz="1000" b="0">
                <a:solidFill>
                  <a:srgbClr val="9CBBB0"/>
                </a:solidFill>
                <a:latin typeface="Calibri"/>
              </a:rPr>
              <a:t>Un reto resuelto bien y otro mal. Skill Score y feedback por criterio.</a:t>
            </a:r>
          </a:p>
        </p:txBody>
      </p:sp>
      <p:sp>
        <p:nvSpPr>
          <p:cNvPr id="6" name="Rounded Rectangle 5"/>
          <p:cNvSpPr/>
          <p:nvPr/>
        </p:nvSpPr>
        <p:spPr>
          <a:xfrm>
            <a:off x="3438144" y="3429000"/>
            <a:ext cx="2596896" cy="1691640"/>
          </a:xfrm>
          <a:prstGeom prst="roundRect">
            <a:avLst>
              <a:gd name="adj" fmla="val 6000"/>
            </a:avLst>
          </a:prstGeom>
          <a:solidFill>
            <a:srgbClr val="10332B"/>
          </a:solidFill>
          <a:ln w="9525">
            <a:solidFill>
              <a:srgbClr val="2A50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3602736"/>
            <a:ext cx="2194560"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34D399"/>
                </a:solidFill>
                <a:latin typeface="Consolas"/>
              </a:rPr>
              <a:t>02 · SEGURIDAD</a:t>
            </a:r>
          </a:p>
          <a:p>
            <a:pPr algn="l">
              <a:lnSpc>
                <a:spcPct val="105000"/>
              </a:lnSpc>
              <a:spcAft>
                <a:spcPts val="500"/>
              </a:spcAft>
            </a:pPr>
            <a:r>
              <a:rPr sz="1300" b="1">
                <a:solidFill>
                  <a:srgbClr val="EAF5F0"/>
                </a:solidFill>
                <a:latin typeface="Calibri Light"/>
              </a:rPr>
              <a:t>Prompt injection</a:t>
            </a:r>
          </a:p>
          <a:p>
            <a:pPr algn="l">
              <a:lnSpc>
                <a:spcPct val="128000"/>
              </a:lnSpc>
              <a:spcAft>
                <a:spcPts val="0"/>
              </a:spcAft>
            </a:pPr>
            <a:r>
              <a:rPr sz="1000" b="0">
                <a:solidFill>
                  <a:srgbClr val="9CBBB0"/>
                </a:solidFill>
                <a:latin typeface="Calibri"/>
              </a:rPr>
              <a:t>Un intento de manipular la nota, detectado y penalizado.</a:t>
            </a:r>
          </a:p>
        </p:txBody>
      </p:sp>
      <p:sp>
        <p:nvSpPr>
          <p:cNvPr id="8" name="Rounded Rectangle 7"/>
          <p:cNvSpPr/>
          <p:nvPr/>
        </p:nvSpPr>
        <p:spPr>
          <a:xfrm>
            <a:off x="6217920" y="3429000"/>
            <a:ext cx="2596896" cy="1691640"/>
          </a:xfrm>
          <a:prstGeom prst="roundRect">
            <a:avLst>
              <a:gd name="adj" fmla="val 6000"/>
            </a:avLst>
          </a:prstGeom>
          <a:solidFill>
            <a:srgbClr val="10332B"/>
          </a:solidFill>
          <a:ln w="9525">
            <a:solidFill>
              <a:srgbClr val="2A50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3602736"/>
            <a:ext cx="2194560"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34D399"/>
                </a:solidFill>
                <a:latin typeface="Consolas"/>
              </a:rPr>
              <a:t>03 · SKILLPASS</a:t>
            </a:r>
          </a:p>
          <a:p>
            <a:pPr algn="l">
              <a:lnSpc>
                <a:spcPct val="105000"/>
              </a:lnSpc>
              <a:spcAft>
                <a:spcPts val="500"/>
              </a:spcAft>
            </a:pPr>
            <a:r>
              <a:rPr sz="1300" b="1">
                <a:solidFill>
                  <a:srgbClr val="EAF5F0"/>
                </a:solidFill>
                <a:latin typeface="Calibri Light"/>
              </a:rPr>
              <a:t>Sellar y verificar</a:t>
            </a:r>
          </a:p>
          <a:p>
            <a:pPr algn="l">
              <a:lnSpc>
                <a:spcPct val="128000"/>
              </a:lnSpc>
              <a:spcAft>
                <a:spcPts val="0"/>
              </a:spcAft>
            </a:pPr>
            <a:r>
              <a:rPr sz="1000" b="0">
                <a:solidFill>
                  <a:srgbClr val="9CBBB0"/>
                </a:solidFill>
                <a:latin typeface="Calibri"/>
              </a:rPr>
              <a:t>Emitir la credencial y comprobarla desde fuera, sin cuenta.</a:t>
            </a:r>
          </a:p>
        </p:txBody>
      </p:sp>
      <p:sp>
        <p:nvSpPr>
          <p:cNvPr id="10" name="Rounded Rectangle 9"/>
          <p:cNvSpPr/>
          <p:nvPr/>
        </p:nvSpPr>
        <p:spPr>
          <a:xfrm>
            <a:off x="8997696" y="3429000"/>
            <a:ext cx="2596896" cy="1691640"/>
          </a:xfrm>
          <a:prstGeom prst="roundRect">
            <a:avLst>
              <a:gd name="adj" fmla="val 6000"/>
            </a:avLst>
          </a:prstGeom>
          <a:solidFill>
            <a:srgbClr val="10332B"/>
          </a:solidFill>
          <a:ln w="9525">
            <a:solidFill>
              <a:srgbClr val="2A50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98864" y="3602736"/>
            <a:ext cx="2194560"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34D399"/>
                </a:solidFill>
                <a:latin typeface="Consolas"/>
              </a:rPr>
              <a:t>04 · TRAZABILIDAD</a:t>
            </a:r>
          </a:p>
          <a:p>
            <a:pPr algn="l">
              <a:lnSpc>
                <a:spcPct val="105000"/>
              </a:lnSpc>
              <a:spcAft>
                <a:spcPts val="500"/>
              </a:spcAft>
            </a:pPr>
            <a:r>
              <a:rPr sz="1300" b="1">
                <a:solidFill>
                  <a:srgbClr val="EAF5F0"/>
                </a:solidFill>
                <a:latin typeface="Calibri Light"/>
              </a:rPr>
              <a:t>Registro de auditoría</a:t>
            </a:r>
          </a:p>
          <a:p>
            <a:pPr algn="l">
              <a:lnSpc>
                <a:spcPct val="128000"/>
              </a:lnSpc>
              <a:spcAft>
                <a:spcPts val="0"/>
              </a:spcAft>
            </a:pPr>
            <a:r>
              <a:rPr sz="1000" b="0">
                <a:solidFill>
                  <a:srgbClr val="9CBBB0"/>
                </a:solidFill>
                <a:latin typeface="Calibri"/>
              </a:rPr>
              <a:t>Coste real por evaluación y desglose de criterios.</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DEMOSTRACIÓN</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2103120"/>
            <a:ext cx="10881360" cy="274320"/>
          </a:xfrm>
          <a:prstGeom prst="rect">
            <a:avLst/>
          </a:prstGeom>
          <a:noFill/>
        </p:spPr>
        <p:txBody>
          <a:bodyPr wrap="square" lIns="0" rIns="0" tIns="0" bIns="0" anchor="t">
            <a:spAutoFit/>
          </a:bodyPr>
          <a:lstStyle/>
          <a:p>
            <a:pPr algn="l">
              <a:lnSpc>
                <a:spcPct val="100000"/>
              </a:lnSpc>
              <a:spcAft>
                <a:spcPts val="0"/>
              </a:spcAft>
            </a:pPr>
            <a:r>
              <a:rPr sz="1050" b="0" spc="220">
                <a:solidFill>
                  <a:srgbClr val="34D399"/>
                </a:solidFill>
                <a:latin typeface="Consolas"/>
              </a:rPr>
              <a:t>ACTO V</a:t>
            </a:r>
          </a:p>
        </p:txBody>
      </p:sp>
      <p:sp>
        <p:nvSpPr>
          <p:cNvPr id="3" name="TextBox 2"/>
          <p:cNvSpPr txBox="1"/>
          <p:nvPr/>
        </p:nvSpPr>
        <p:spPr>
          <a:xfrm>
            <a:off x="658368" y="2514600"/>
            <a:ext cx="9144000" cy="1051560"/>
          </a:xfrm>
          <a:prstGeom prst="rect">
            <a:avLst/>
          </a:prstGeom>
          <a:noFill/>
        </p:spPr>
        <p:txBody>
          <a:bodyPr wrap="square" lIns="0" rIns="0" tIns="0" bIns="0" anchor="t">
            <a:spAutoFit/>
          </a:bodyPr>
          <a:lstStyle/>
          <a:p>
            <a:pPr>
              <a:lnSpc>
                <a:spcPct val="98000"/>
              </a:lnSpc>
            </a:pPr>
            <a:r>
              <a:rPr sz="4400" b="1">
                <a:solidFill>
                  <a:srgbClr val="EAF5F0"/>
                </a:solidFill>
                <a:latin typeface="Calibri Light"/>
              </a:rPr>
              <a:t>¿Se sostiene </a:t>
            </a:r>
            <a:r>
              <a:rPr sz="4400" b="1">
                <a:solidFill>
                  <a:srgbClr val="34D399"/>
                </a:solidFill>
                <a:latin typeface="Calibri Light"/>
              </a:rPr>
              <a:t>como negocio?</a:t>
            </a:r>
          </a:p>
        </p:txBody>
      </p:sp>
      <p:sp>
        <p:nvSpPr>
          <p:cNvPr id="4" name="TextBox 3"/>
          <p:cNvSpPr txBox="1"/>
          <p:nvPr/>
        </p:nvSpPr>
        <p:spPr>
          <a:xfrm>
            <a:off x="658368" y="3977639"/>
            <a:ext cx="8412480" cy="731520"/>
          </a:xfrm>
          <a:prstGeom prst="rect">
            <a:avLst/>
          </a:prstGeom>
          <a:noFill/>
        </p:spPr>
        <p:txBody>
          <a:bodyPr wrap="square" lIns="0" rIns="0" tIns="0" bIns="0" anchor="t">
            <a:spAutoFit/>
          </a:bodyPr>
          <a:lstStyle/>
          <a:p>
            <a:pPr algn="l">
              <a:lnSpc>
                <a:spcPct val="135000"/>
              </a:lnSpc>
              <a:spcAft>
                <a:spcPts val="0"/>
              </a:spcAft>
            </a:pPr>
            <a:r>
              <a:rPr sz="1500" b="0">
                <a:solidFill>
                  <a:srgbClr val="9CBBB0"/>
                </a:solidFill>
                <a:latin typeface="Calibri"/>
              </a:rPr>
              <a:t>La tecnología funciona y es barata. La pregunta que decide el proyecto es si alguien paga por ella y a qué coste de adquisición.</a:t>
            </a:r>
          </a:p>
        </p:txBody>
      </p:sp>
      <p:sp>
        <p:nvSpPr>
          <p:cNvPr id="5" name="TextBox 4"/>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7D71"/>
                </a:solidFill>
                <a:latin typeface="Consolas"/>
              </a:rPr>
              <a:t>EL NEGOCIO</a:t>
            </a:r>
          </a:p>
        </p:txBody>
      </p:sp>
      <p:sp>
        <p:nvSpPr>
          <p:cNvPr id="6" name="TextBox 5"/>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7D71"/>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MODELO DE INGRESOS</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Pago por resultado, </a:t>
            </a:r>
            <a:r>
              <a:rPr sz="3400" b="1">
                <a:solidFill>
                  <a:srgbClr val="0E7C5A"/>
                </a:solidFill>
                <a:latin typeface="Calibri Light"/>
              </a:rPr>
              <a:t>con cinco palancas.</a:t>
            </a:r>
          </a:p>
        </p:txBody>
      </p:sp>
      <p:graphicFrame>
        <p:nvGraphicFramePr>
          <p:cNvPr id="4" name="Table 3"/>
          <p:cNvGraphicFramePr>
            <a:graphicFrameLocks noGrp="1"/>
          </p:cNvGraphicFramePr>
          <p:nvPr/>
        </p:nvGraphicFramePr>
        <p:xfrm>
          <a:off x="658368" y="2103120"/>
          <a:ext cx="5532120" cy="2084832"/>
        </p:xfrm>
        <a:graphic>
          <a:graphicData uri="http://schemas.openxmlformats.org/drawingml/2006/table">
            <a:tbl>
              <a:tblPr>
                <a:tableStyleId>{5C22544A-7EE6-4342-B048-85BDC9FD1C3A}</a:tableStyleId>
              </a:tblPr>
              <a:tblGrid>
                <a:gridCol w="2468880"/>
                <a:gridCol w="1463040"/>
                <a:gridCol w="1600200"/>
              </a:tblGrid>
              <a:tr h="347472">
                <a:tc>
                  <a:txBody>
                    <a:bodyPr/>
                    <a:lstStyle/>
                    <a:p>
                      <a:pPr algn="l">
                        <a:lnSpc>
                          <a:spcPct val="100000"/>
                        </a:lnSpc>
                        <a:spcAft>
                          <a:spcPts val="0"/>
                        </a:spcAft>
                      </a:pPr>
                      <a:r>
                        <a:rPr sz="850" b="0" spc="120">
                          <a:solidFill>
                            <a:srgbClr val="5A6B65"/>
                          </a:solidFill>
                          <a:latin typeface="Consolas"/>
                        </a:rPr>
                        <a:t>PALANCA</a:t>
                      </a:r>
                    </a:p>
                  </a:txBody>
                  <a:tcPr marL="82296" marR="82296" marT="45720" marB="45720">
                    <a:solidFill>
                      <a:srgbClr val="F7F8F6"/>
                    </a:solidFill>
                  </a:tcPr>
                </a:tc>
                <a:tc>
                  <a:txBody>
                    <a:bodyPr/>
                    <a:lstStyle/>
                    <a:p>
                      <a:pPr algn="r">
                        <a:lnSpc>
                          <a:spcPct val="100000"/>
                        </a:lnSpc>
                        <a:spcAft>
                          <a:spcPts val="0"/>
                        </a:spcAft>
                      </a:pPr>
                      <a:r>
                        <a:rPr sz="850" b="0" spc="120">
                          <a:solidFill>
                            <a:srgbClr val="5A6B65"/>
                          </a:solidFill>
                          <a:latin typeface="Consolas"/>
                        </a:rPr>
                        <a:t>PRECIO</a:t>
                      </a:r>
                    </a:p>
                  </a:txBody>
                  <a:tcPr marL="82296" marR="82296" marT="45720" marB="45720">
                    <a:solidFill>
                      <a:srgbClr val="F7F8F6"/>
                    </a:solidFill>
                  </a:tcPr>
                </a:tc>
                <a:tc>
                  <a:txBody>
                    <a:bodyPr/>
                    <a:lstStyle/>
                    <a:p>
                      <a:pPr algn="l">
                        <a:lnSpc>
                          <a:spcPct val="100000"/>
                        </a:lnSpc>
                        <a:spcAft>
                          <a:spcPts val="0"/>
                        </a:spcAft>
                      </a:pPr>
                      <a:r>
                        <a:rPr sz="850" b="0" spc="120">
                          <a:solidFill>
                            <a:srgbClr val="5A6B65"/>
                          </a:solidFill>
                          <a:latin typeface="Consolas"/>
                        </a:rPr>
                        <a:t>ROL</a:t>
                      </a:r>
                    </a:p>
                  </a:txBody>
                  <a:tcPr marL="82296" marR="82296" marT="45720" marB="45720">
                    <a:solidFill>
                      <a:srgbClr val="F7F8F6"/>
                    </a:solidFill>
                  </a:tcPr>
                </a:tc>
              </a:tr>
              <a:tr h="347472">
                <a:tc>
                  <a:txBody>
                    <a:bodyPr/>
                    <a:lstStyle/>
                    <a:p>
                      <a:pPr algn="l">
                        <a:lnSpc>
                          <a:spcPct val="100000"/>
                        </a:lnSpc>
                        <a:spcAft>
                          <a:spcPts val="0"/>
                        </a:spcAft>
                      </a:pPr>
                      <a:r>
                        <a:rPr sz="1100" b="1">
                          <a:solidFill>
                            <a:srgbClr val="0B1F1A"/>
                          </a:solidFill>
                          <a:latin typeface="Calibri"/>
                        </a:rPr>
                        <a:t>Desbloqueo de contacto</a:t>
                      </a:r>
                    </a:p>
                  </a:txBody>
                  <a:tcPr marL="82296" marR="82296" marT="54864" marB="54864">
                    <a:solidFill>
                      <a:srgbClr val="FFFFFF"/>
                    </a:solidFill>
                  </a:tcPr>
                </a:tc>
                <a:tc>
                  <a:txBody>
                    <a:bodyPr/>
                    <a:lstStyle/>
                    <a:p>
                      <a:pPr algn="r">
                        <a:lnSpc>
                          <a:spcPct val="100000"/>
                        </a:lnSpc>
                        <a:spcAft>
                          <a:spcPts val="0"/>
                        </a:spcAft>
                      </a:pPr>
                      <a:r>
                        <a:rPr sz="1100" b="1">
                          <a:solidFill>
                            <a:srgbClr val="0B1F1A"/>
                          </a:solidFill>
                          <a:latin typeface="Consolas"/>
                        </a:rPr>
                        <a:t>49 €</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Principal</a:t>
                      </a:r>
                    </a:p>
                  </a:txBody>
                  <a:tcPr marL="82296" marR="82296" marT="54864" marB="54864">
                    <a:solidFill>
                      <a:srgbClr val="FFFFFF"/>
                    </a:solidFill>
                  </a:tcPr>
                </a:tc>
              </a:tr>
              <a:tr h="347472">
                <a:tc>
                  <a:txBody>
                    <a:bodyPr/>
                    <a:lstStyle/>
                    <a:p>
                      <a:pPr algn="l">
                        <a:lnSpc>
                          <a:spcPct val="100000"/>
                        </a:lnSpc>
                        <a:spcAft>
                          <a:spcPts val="0"/>
                        </a:spcAft>
                      </a:pPr>
                      <a:r>
                        <a:rPr sz="1100" b="1">
                          <a:solidFill>
                            <a:srgbClr val="0B1F1A"/>
                          </a:solidFill>
                          <a:latin typeface="Calibri"/>
                        </a:rPr>
                        <a:t>Plan Pro</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199 €/mes</a:t>
                      </a:r>
                    </a:p>
                  </a:txBody>
                  <a:tcPr marL="82296" marR="82296" marT="54864" marB="54864">
                    <a:solidFill>
                      <a:srgbClr val="F7F8F6"/>
                    </a:solidFill>
                  </a:tcPr>
                </a:tc>
                <a:tc>
                  <a:txBody>
                    <a:bodyPr/>
                    <a:lstStyle/>
                    <a:p>
                      <a:pPr algn="l">
                        <a:lnSpc>
                          <a:spcPct val="100000"/>
                        </a:lnSpc>
                        <a:spcAft>
                          <a:spcPts val="0"/>
                        </a:spcAft>
                      </a:pPr>
                      <a:r>
                        <a:rPr sz="1100" b="0">
                          <a:solidFill>
                            <a:srgbClr val="2C4740"/>
                          </a:solidFill>
                          <a:latin typeface="Calibri"/>
                        </a:rPr>
                        <a:t>RRHH recurrente</a:t>
                      </a:r>
                    </a:p>
                  </a:txBody>
                  <a:tcPr marL="82296" marR="82296" marT="54864" marB="54864">
                    <a:solidFill>
                      <a:srgbClr val="F7F8F6"/>
                    </a:solidFill>
                  </a:tcPr>
                </a:tc>
              </a:tr>
              <a:tr h="347472">
                <a:tc>
                  <a:txBody>
                    <a:bodyPr/>
                    <a:lstStyle/>
                    <a:p>
                      <a:pPr algn="l">
                        <a:lnSpc>
                          <a:spcPct val="100000"/>
                        </a:lnSpc>
                        <a:spcAft>
                          <a:spcPts val="0"/>
                        </a:spcAft>
                      </a:pPr>
                      <a:r>
                        <a:rPr sz="1100" b="1">
                          <a:solidFill>
                            <a:srgbClr val="0B1F1A"/>
                          </a:solidFill>
                          <a:latin typeface="Calibri"/>
                        </a:rPr>
                        <a:t>Plan Enterprise</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499 €/mes</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Grandes equipos</a:t>
                      </a:r>
                    </a:p>
                  </a:txBody>
                  <a:tcPr marL="82296" marR="82296" marT="54864" marB="54864">
                    <a:solidFill>
                      <a:srgbClr val="FFFFFF"/>
                    </a:solidFill>
                  </a:tcPr>
                </a:tc>
              </a:tr>
              <a:tr h="347472">
                <a:tc>
                  <a:txBody>
                    <a:bodyPr/>
                    <a:lstStyle/>
                    <a:p>
                      <a:pPr algn="l">
                        <a:lnSpc>
                          <a:spcPct val="100000"/>
                        </a:lnSpc>
                        <a:spcAft>
                          <a:spcPts val="0"/>
                        </a:spcAft>
                      </a:pPr>
                      <a:r>
                        <a:rPr sz="1100" b="1">
                          <a:solidFill>
                            <a:srgbClr val="0B1F1A"/>
                          </a:solidFill>
                          <a:latin typeface="Calibri"/>
                        </a:rPr>
                        <a:t>Retos a medida</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299 €/vacante</a:t>
                      </a:r>
                    </a:p>
                  </a:txBody>
                  <a:tcPr marL="82296" marR="82296" marT="54864" marB="54864">
                    <a:solidFill>
                      <a:srgbClr val="F7F8F6"/>
                    </a:solidFill>
                  </a:tcPr>
                </a:tc>
                <a:tc>
                  <a:txBody>
                    <a:bodyPr/>
                    <a:lstStyle/>
                    <a:p>
                      <a:pPr algn="l">
                        <a:lnSpc>
                          <a:spcPct val="100000"/>
                        </a:lnSpc>
                        <a:spcAft>
                          <a:spcPts val="0"/>
                        </a:spcAft>
                      </a:pPr>
                      <a:r>
                        <a:rPr sz="1100" b="0">
                          <a:solidFill>
                            <a:srgbClr val="2C4740"/>
                          </a:solidFill>
                          <a:latin typeface="Calibri"/>
                        </a:rPr>
                        <a:t>Alto valor</a:t>
                      </a:r>
                    </a:p>
                  </a:txBody>
                  <a:tcPr marL="82296" marR="82296" marT="54864" marB="54864">
                    <a:solidFill>
                      <a:srgbClr val="F7F8F6"/>
                    </a:solidFill>
                  </a:tcPr>
                </a:tc>
              </a:tr>
              <a:tr h="347472">
                <a:tc>
                  <a:txBody>
                    <a:bodyPr/>
                    <a:lstStyle/>
                    <a:p>
                      <a:pPr algn="l">
                        <a:lnSpc>
                          <a:spcPct val="100000"/>
                        </a:lnSpc>
                        <a:spcAft>
                          <a:spcPts val="0"/>
                        </a:spcAft>
                      </a:pPr>
                      <a:r>
                        <a:rPr sz="1100" b="1">
                          <a:solidFill>
                            <a:srgbClr val="0B1F1A"/>
                          </a:solidFill>
                          <a:latin typeface="Calibri"/>
                        </a:rPr>
                        <a:t>Candidato Premium</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5 €/reto</a:t>
                      </a:r>
                    </a:p>
                  </a:txBody>
                  <a:tcPr marL="82296" marR="82296" marT="54864" marB="54864">
                    <a:solidFill>
                      <a:srgbClr val="FFFFFF"/>
                    </a:solidFill>
                  </a:tcPr>
                </a:tc>
                <a:tc>
                  <a:txBody>
                    <a:bodyPr/>
                    <a:lstStyle/>
                    <a:p>
                      <a:pPr algn="l">
                        <a:lnSpc>
                          <a:spcPct val="100000"/>
                        </a:lnSpc>
                        <a:spcAft>
                          <a:spcPts val="0"/>
                        </a:spcAft>
                      </a:pPr>
                      <a:r>
                        <a:rPr sz="1100" b="0">
                          <a:solidFill>
                            <a:srgbClr val="2C4740"/>
                          </a:solidFill>
                          <a:latin typeface="Calibri"/>
                        </a:rPr>
                        <a:t>Power users</a:t>
                      </a:r>
                    </a:p>
                  </a:txBody>
                  <a:tcPr marL="82296" marR="82296" marT="54864" marB="54864">
                    <a:solidFill>
                      <a:srgbClr val="FFFFFF"/>
                    </a:solidFill>
                  </a:tcPr>
                </a:tc>
              </a:tr>
            </a:tbl>
          </a:graphicData>
        </a:graphic>
      </p:graphicFrame>
      <p:sp>
        <p:nvSpPr>
          <p:cNvPr id="5" name="TextBox 4"/>
          <p:cNvSpPr txBox="1"/>
          <p:nvPr/>
        </p:nvSpPr>
        <p:spPr>
          <a:xfrm>
            <a:off x="658368" y="4343400"/>
            <a:ext cx="5486400" cy="548640"/>
          </a:xfrm>
          <a:prstGeom prst="rect">
            <a:avLst/>
          </a:prstGeom>
          <a:noFill/>
        </p:spPr>
        <p:txBody>
          <a:bodyPr wrap="square" lIns="0" rIns="0" tIns="0" bIns="0" anchor="t">
            <a:spAutoFit/>
          </a:bodyPr>
          <a:lstStyle/>
          <a:p>
            <a:pPr>
              <a:lnSpc>
                <a:spcPct val="132000"/>
              </a:lnSpc>
              <a:spcAft>
                <a:spcPts val="0"/>
              </a:spcAft>
            </a:pPr>
            <a:r>
              <a:rPr sz="1150" b="0">
                <a:solidFill>
                  <a:srgbClr val="2C4740"/>
                </a:solidFill>
                <a:latin typeface="Calibri"/>
              </a:rPr>
              <a:t>La palanca principal es deliberadamente de </a:t>
            </a:r>
            <a:r>
              <a:rPr sz="1150" b="1">
                <a:solidFill>
                  <a:srgbClr val="0B1F1A"/>
                </a:solidFill>
                <a:latin typeface="Calibri"/>
              </a:rPr>
              <a:t>baja fricción</a:t>
            </a:r>
            <a:r>
              <a:rPr sz="1150" b="0">
                <a:solidFill>
                  <a:srgbClr val="2C4740"/>
                </a:solidFill>
                <a:latin typeface="Calibri"/>
              </a:rPr>
              <a:t>: 49 € es una decisión que un responsable de RRHH toma sin pasar por compras.</a:t>
            </a:r>
          </a:p>
        </p:txBody>
      </p:sp>
      <p:sp>
        <p:nvSpPr>
          <p:cNvPr id="6" name="TextBox 5"/>
          <p:cNvSpPr txBox="1"/>
          <p:nvPr/>
        </p:nvSpPr>
        <p:spPr>
          <a:xfrm>
            <a:off x="6720840" y="2148840"/>
            <a:ext cx="2286000" cy="1371600"/>
          </a:xfrm>
          <a:prstGeom prst="rect">
            <a:avLst/>
          </a:prstGeom>
          <a:noFill/>
        </p:spPr>
        <p:txBody>
          <a:bodyPr wrap="square" lIns="0" rIns="0" tIns="0" bIns="0" anchor="t">
            <a:spAutoFit/>
          </a:bodyPr>
          <a:lstStyle/>
          <a:p>
            <a:pPr>
              <a:lnSpc>
                <a:spcPct val="92000"/>
              </a:lnSpc>
            </a:pPr>
            <a:r>
              <a:rPr sz="3800" b="1">
                <a:solidFill>
                  <a:srgbClr val="0E7C5A"/>
                </a:solidFill>
                <a:latin typeface="Calibri Light"/>
              </a:rPr>
              <a:t>17,3</a:t>
            </a:r>
            <a:r>
              <a:rPr sz="1900" b="1">
                <a:solidFill>
                  <a:srgbClr val="5A6B65"/>
                </a:solidFill>
                <a:latin typeface="Calibri Light"/>
              </a:rPr>
              <a:t>×</a:t>
            </a:r>
          </a:p>
          <a:p>
            <a:pPr algn="l">
              <a:lnSpc>
                <a:spcPct val="125000"/>
              </a:lnSpc>
              <a:spcAft>
                <a:spcPts val="200"/>
              </a:spcAft>
            </a:pPr>
            <a:r>
              <a:rPr sz="1050" b="0">
                <a:solidFill>
                  <a:srgbClr val="5A6B65"/>
                </a:solidFill>
                <a:latin typeface="Calibri"/>
              </a:rPr>
              <a:t>ratio LTV/CAC en 2027 (sano &gt; 3×)</a:t>
            </a:r>
          </a:p>
        </p:txBody>
      </p:sp>
      <p:sp>
        <p:nvSpPr>
          <p:cNvPr id="7" name="TextBox 6"/>
          <p:cNvSpPr txBox="1"/>
          <p:nvPr/>
        </p:nvSpPr>
        <p:spPr>
          <a:xfrm>
            <a:off x="9189720" y="2148840"/>
            <a:ext cx="2286000" cy="1371600"/>
          </a:xfrm>
          <a:prstGeom prst="rect">
            <a:avLst/>
          </a:prstGeom>
          <a:noFill/>
        </p:spPr>
        <p:txBody>
          <a:bodyPr wrap="square" lIns="0" rIns="0" tIns="0" bIns="0" anchor="t">
            <a:spAutoFit/>
          </a:bodyPr>
          <a:lstStyle/>
          <a:p>
            <a:pPr>
              <a:lnSpc>
                <a:spcPct val="92000"/>
              </a:lnSpc>
            </a:pPr>
            <a:r>
              <a:rPr sz="3800" b="1">
                <a:solidFill>
                  <a:srgbClr val="0E7C5A"/>
                </a:solidFill>
                <a:latin typeface="Calibri Light"/>
              </a:rPr>
              <a:t>94</a:t>
            </a:r>
            <a:r>
              <a:rPr sz="1900" b="1">
                <a:solidFill>
                  <a:srgbClr val="5A6B65"/>
                </a:solidFill>
                <a:latin typeface="Calibri Light"/>
              </a:rPr>
              <a:t> %</a:t>
            </a:r>
          </a:p>
          <a:p>
            <a:pPr algn="l">
              <a:lnSpc>
                <a:spcPct val="125000"/>
              </a:lnSpc>
              <a:spcAft>
                <a:spcPts val="200"/>
              </a:spcAft>
            </a:pPr>
            <a:r>
              <a:rPr sz="1050" b="0">
                <a:solidFill>
                  <a:srgbClr val="5A6B65"/>
                </a:solidFill>
                <a:latin typeface="Calibri"/>
              </a:rPr>
              <a:t>margen bruto sostenido</a:t>
            </a:r>
          </a:p>
        </p:txBody>
      </p:sp>
      <p:sp>
        <p:nvSpPr>
          <p:cNvPr id="8" name="TextBox 7"/>
          <p:cNvSpPr txBox="1"/>
          <p:nvPr/>
        </p:nvSpPr>
        <p:spPr>
          <a:xfrm>
            <a:off x="6720840" y="3383280"/>
            <a:ext cx="2286000" cy="1371600"/>
          </a:xfrm>
          <a:prstGeom prst="rect">
            <a:avLst/>
          </a:prstGeom>
          <a:noFill/>
        </p:spPr>
        <p:txBody>
          <a:bodyPr wrap="square" lIns="0" rIns="0" tIns="0" bIns="0" anchor="t">
            <a:spAutoFit/>
          </a:bodyPr>
          <a:lstStyle/>
          <a:p>
            <a:pPr>
              <a:lnSpc>
                <a:spcPct val="92000"/>
              </a:lnSpc>
            </a:pPr>
            <a:r>
              <a:rPr sz="3800" b="1">
                <a:solidFill>
                  <a:srgbClr val="0B1F1A"/>
                </a:solidFill>
                <a:latin typeface="Calibri Light"/>
              </a:rPr>
              <a:t>1,4</a:t>
            </a:r>
            <a:r>
              <a:rPr sz="1900" b="1">
                <a:solidFill>
                  <a:srgbClr val="5A6B65"/>
                </a:solidFill>
                <a:latin typeface="Calibri Light"/>
              </a:rPr>
              <a:t> meses</a:t>
            </a:r>
          </a:p>
          <a:p>
            <a:pPr algn="l">
              <a:lnSpc>
                <a:spcPct val="125000"/>
              </a:lnSpc>
              <a:spcAft>
                <a:spcPts val="200"/>
              </a:spcAft>
            </a:pPr>
            <a:r>
              <a:rPr sz="1050" b="0">
                <a:solidFill>
                  <a:srgbClr val="5A6B65"/>
                </a:solidFill>
                <a:latin typeface="Calibri"/>
              </a:rPr>
              <a:t>recuperación del coste de adquisición</a:t>
            </a:r>
          </a:p>
        </p:txBody>
      </p:sp>
      <p:sp>
        <p:nvSpPr>
          <p:cNvPr id="9" name="TextBox 8"/>
          <p:cNvSpPr txBox="1"/>
          <p:nvPr/>
        </p:nvSpPr>
        <p:spPr>
          <a:xfrm>
            <a:off x="9189720" y="3383280"/>
            <a:ext cx="2286000" cy="1371600"/>
          </a:xfrm>
          <a:prstGeom prst="rect">
            <a:avLst/>
          </a:prstGeom>
          <a:noFill/>
        </p:spPr>
        <p:txBody>
          <a:bodyPr wrap="square" lIns="0" rIns="0" tIns="0" bIns="0" anchor="t">
            <a:spAutoFit/>
          </a:bodyPr>
          <a:lstStyle/>
          <a:p>
            <a:pPr>
              <a:lnSpc>
                <a:spcPct val="92000"/>
              </a:lnSpc>
            </a:pPr>
            <a:r>
              <a:rPr sz="3800" b="1">
                <a:solidFill>
                  <a:srgbClr val="0B1F1A"/>
                </a:solidFill>
                <a:latin typeface="Calibri Light"/>
              </a:rPr>
              <a:t>146</a:t>
            </a:r>
            <a:r>
              <a:rPr sz="1900" b="1">
                <a:solidFill>
                  <a:srgbClr val="5A6B65"/>
                </a:solidFill>
                <a:latin typeface="Calibri Light"/>
              </a:rPr>
              <a:t> €</a:t>
            </a:r>
          </a:p>
          <a:p>
            <a:pPr algn="l">
              <a:lnSpc>
                <a:spcPct val="125000"/>
              </a:lnSpc>
              <a:spcAft>
                <a:spcPts val="200"/>
              </a:spcAft>
            </a:pPr>
            <a:r>
              <a:rPr sz="1050" b="0">
                <a:solidFill>
                  <a:srgbClr val="5A6B65"/>
                </a:solidFill>
                <a:latin typeface="Calibri"/>
              </a:rPr>
              <a:t>ingreso medio por empresa y mes</a:t>
            </a:r>
          </a:p>
        </p:txBody>
      </p:sp>
      <p:sp>
        <p:nvSpPr>
          <p:cNvPr id="10" name="Rectangle 9"/>
          <p:cNvSpPr/>
          <p:nvPr/>
        </p:nvSpPr>
        <p:spPr>
          <a:xfrm>
            <a:off x="6720840" y="4709160"/>
            <a:ext cx="32004" cy="566928"/>
          </a:xfrm>
          <a:prstGeom prst="rect">
            <a:avLst/>
          </a:prstGeom>
          <a:solidFill>
            <a:srgbClr val="0E7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4681728"/>
            <a:ext cx="4754880" cy="640080"/>
          </a:xfrm>
          <a:prstGeom prst="rect">
            <a:avLst/>
          </a:prstGeom>
          <a:noFill/>
        </p:spPr>
        <p:txBody>
          <a:bodyPr wrap="square" lIns="0" rIns="0" tIns="0" bIns="0" anchor="t">
            <a:spAutoFit/>
          </a:bodyPr>
          <a:lstStyle/>
          <a:p>
            <a:pPr algn="l">
              <a:lnSpc>
                <a:spcPct val="120000"/>
              </a:lnSpc>
              <a:spcAft>
                <a:spcPts val="0"/>
              </a:spcAft>
            </a:pPr>
            <a:r>
              <a:rPr sz="1300" b="1">
                <a:solidFill>
                  <a:srgbClr val="0B1F1A"/>
                </a:solidFill>
                <a:latin typeface="Calibri Light"/>
              </a:rPr>
              <a:t>El problema de este negocio no es la economía unitaria. Es alcanzar volumen.</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NEGOCIO</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ESCENARIO BASE · MODELO A 36 MESES</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De validar a </a:t>
            </a:r>
            <a:r>
              <a:rPr sz="3400" b="1">
                <a:solidFill>
                  <a:srgbClr val="0E7C5A"/>
                </a:solidFill>
                <a:latin typeface="Calibri Light"/>
              </a:rPr>
              <a:t>medio millón de ARR.</a:t>
            </a:r>
          </a:p>
        </p:txBody>
      </p:sp>
      <p:graphicFrame>
        <p:nvGraphicFramePr>
          <p:cNvPr id="4" name="Table 3"/>
          <p:cNvGraphicFramePr>
            <a:graphicFrameLocks noGrp="1"/>
          </p:cNvGraphicFramePr>
          <p:nvPr/>
        </p:nvGraphicFramePr>
        <p:xfrm>
          <a:off x="658368" y="2103120"/>
          <a:ext cx="10881360" cy="1920240"/>
        </p:xfrm>
        <a:graphic>
          <a:graphicData uri="http://schemas.openxmlformats.org/drawingml/2006/table">
            <a:tbl>
              <a:tblPr>
                <a:tableStyleId>{5C22544A-7EE6-4342-B048-85BDC9FD1C3A}</a:tableStyleId>
              </a:tblPr>
              <a:tblGrid>
                <a:gridCol w="4023360"/>
                <a:gridCol w="2286000"/>
                <a:gridCol w="2286000"/>
                <a:gridCol w="2286000"/>
              </a:tblGrid>
              <a:tr h="384048">
                <a:tc>
                  <a:txBody>
                    <a:bodyPr/>
                    <a:lstStyle/>
                    <a:p>
                      <a:pPr algn="l">
                        <a:lnSpc>
                          <a:spcPct val="100000"/>
                        </a:lnSpc>
                        <a:spcAft>
                          <a:spcPts val="0"/>
                        </a:spcAft>
                      </a:pPr>
                      <a:r>
                        <a:rPr sz="850" b="0" spc="120">
                          <a:solidFill>
                            <a:srgbClr val="5A6B65"/>
                          </a:solidFill>
                          <a:latin typeface="Consolas"/>
                        </a:rPr>
                        <a:t/>
                      </a:r>
                    </a:p>
                  </a:txBody>
                  <a:tcPr marL="82296" marR="82296" marT="45720" marB="45720">
                    <a:solidFill>
                      <a:srgbClr val="F7F8F6"/>
                    </a:solidFill>
                  </a:tcPr>
                </a:tc>
                <a:tc>
                  <a:txBody>
                    <a:bodyPr/>
                    <a:lstStyle/>
                    <a:p>
                      <a:pPr algn="r">
                        <a:lnSpc>
                          <a:spcPct val="100000"/>
                        </a:lnSpc>
                        <a:spcAft>
                          <a:spcPts val="0"/>
                        </a:spcAft>
                      </a:pPr>
                      <a:r>
                        <a:rPr sz="850" b="0" spc="120">
                          <a:solidFill>
                            <a:srgbClr val="5A6B65"/>
                          </a:solidFill>
                          <a:latin typeface="Consolas"/>
                        </a:rPr>
                        <a:t>2026</a:t>
                      </a:r>
                    </a:p>
                  </a:txBody>
                  <a:tcPr marL="82296" marR="82296" marT="45720" marB="45720">
                    <a:solidFill>
                      <a:srgbClr val="F7F8F6"/>
                    </a:solidFill>
                  </a:tcPr>
                </a:tc>
                <a:tc>
                  <a:txBody>
                    <a:bodyPr/>
                    <a:lstStyle/>
                    <a:p>
                      <a:pPr algn="r">
                        <a:lnSpc>
                          <a:spcPct val="100000"/>
                        </a:lnSpc>
                        <a:spcAft>
                          <a:spcPts val="0"/>
                        </a:spcAft>
                      </a:pPr>
                      <a:r>
                        <a:rPr sz="850" b="0" spc="120">
                          <a:solidFill>
                            <a:srgbClr val="5A6B65"/>
                          </a:solidFill>
                          <a:latin typeface="Consolas"/>
                        </a:rPr>
                        <a:t>2027</a:t>
                      </a:r>
                    </a:p>
                  </a:txBody>
                  <a:tcPr marL="82296" marR="82296" marT="45720" marB="45720">
                    <a:solidFill>
                      <a:srgbClr val="F7F8F6"/>
                    </a:solidFill>
                  </a:tcPr>
                </a:tc>
                <a:tc>
                  <a:txBody>
                    <a:bodyPr/>
                    <a:lstStyle/>
                    <a:p>
                      <a:pPr algn="l">
                        <a:lnSpc>
                          <a:spcPct val="100000"/>
                        </a:lnSpc>
                        <a:spcAft>
                          <a:spcPts val="0"/>
                        </a:spcAft>
                      </a:pPr>
                      <a:r>
                        <a:rPr sz="850" b="0" spc="120">
                          <a:solidFill>
                            <a:srgbClr val="5A6B65"/>
                          </a:solidFill>
                          <a:latin typeface="Consolas"/>
                        </a:rPr>
                        <a:t>2028</a:t>
                      </a:r>
                    </a:p>
                  </a:txBody>
                  <a:tcPr marL="82296" marR="82296" marT="45720" marB="45720">
                    <a:solidFill>
                      <a:srgbClr val="F7F8F6"/>
                    </a:solidFill>
                  </a:tcPr>
                </a:tc>
              </a:tr>
              <a:tr h="384048">
                <a:tc>
                  <a:txBody>
                    <a:bodyPr/>
                    <a:lstStyle/>
                    <a:p>
                      <a:pPr algn="l">
                        <a:lnSpc>
                          <a:spcPct val="100000"/>
                        </a:lnSpc>
                        <a:spcAft>
                          <a:spcPts val="0"/>
                        </a:spcAft>
                      </a:pPr>
                      <a:r>
                        <a:rPr sz="1100" b="1">
                          <a:solidFill>
                            <a:srgbClr val="0B1F1A"/>
                          </a:solidFill>
                          <a:latin typeface="Calibri"/>
                        </a:rPr>
                        <a:t>Empresas cliente</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24</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129</a:t>
                      </a:r>
                    </a:p>
                  </a:txBody>
                  <a:tcPr marL="82296" marR="82296" marT="54864" marB="54864">
                    <a:solidFill>
                      <a:srgbClr val="FFFFFF"/>
                    </a:solidFill>
                  </a:tcPr>
                </a:tc>
                <a:tc>
                  <a:txBody>
                    <a:bodyPr/>
                    <a:lstStyle/>
                    <a:p>
                      <a:pPr algn="l">
                        <a:lnSpc>
                          <a:spcPct val="100000"/>
                        </a:lnSpc>
                        <a:spcAft>
                          <a:spcPts val="0"/>
                        </a:spcAft>
                      </a:pPr>
                      <a:r>
                        <a:rPr sz="1100" b="1">
                          <a:solidFill>
                            <a:srgbClr val="0B1F1A"/>
                          </a:solidFill>
                          <a:latin typeface="Consolas"/>
                        </a:rPr>
                        <a:t>284</a:t>
                      </a:r>
                    </a:p>
                  </a:txBody>
                  <a:tcPr marL="82296" marR="82296" marT="54864" marB="54864">
                    <a:solidFill>
                      <a:srgbClr val="FFFFFF"/>
                    </a:solidFill>
                  </a:tcPr>
                </a:tc>
              </a:tr>
              <a:tr h="384048">
                <a:tc>
                  <a:txBody>
                    <a:bodyPr/>
                    <a:lstStyle/>
                    <a:p>
                      <a:pPr algn="l">
                        <a:lnSpc>
                          <a:spcPct val="100000"/>
                        </a:lnSpc>
                        <a:spcAft>
                          <a:spcPts val="0"/>
                        </a:spcAft>
                      </a:pPr>
                      <a:r>
                        <a:rPr sz="1100" b="1">
                          <a:solidFill>
                            <a:srgbClr val="0B1F1A"/>
                          </a:solidFill>
                          <a:latin typeface="Calibri"/>
                        </a:rPr>
                        <a:t>Candidatos</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746</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3.607</a:t>
                      </a:r>
                    </a:p>
                  </a:txBody>
                  <a:tcPr marL="82296" marR="82296" marT="54864" marB="54864">
                    <a:solidFill>
                      <a:srgbClr val="F7F8F6"/>
                    </a:solidFill>
                  </a:tcPr>
                </a:tc>
                <a:tc>
                  <a:txBody>
                    <a:bodyPr/>
                    <a:lstStyle/>
                    <a:p>
                      <a:pPr algn="l">
                        <a:lnSpc>
                          <a:spcPct val="100000"/>
                        </a:lnSpc>
                        <a:spcAft>
                          <a:spcPts val="0"/>
                        </a:spcAft>
                      </a:pPr>
                      <a:r>
                        <a:rPr sz="1100" b="1">
                          <a:solidFill>
                            <a:srgbClr val="0B1F1A"/>
                          </a:solidFill>
                          <a:latin typeface="Consolas"/>
                        </a:rPr>
                        <a:t>8.746</a:t>
                      </a:r>
                    </a:p>
                  </a:txBody>
                  <a:tcPr marL="82296" marR="82296" marT="54864" marB="54864">
                    <a:solidFill>
                      <a:srgbClr val="F7F8F6"/>
                    </a:solidFill>
                  </a:tcPr>
                </a:tc>
              </a:tr>
              <a:tr h="384048">
                <a:tc>
                  <a:txBody>
                    <a:bodyPr/>
                    <a:lstStyle/>
                    <a:p>
                      <a:pPr algn="l">
                        <a:lnSpc>
                          <a:spcPct val="100000"/>
                        </a:lnSpc>
                        <a:spcAft>
                          <a:spcPts val="0"/>
                        </a:spcAft>
                      </a:pPr>
                      <a:r>
                        <a:rPr sz="1100" b="1">
                          <a:solidFill>
                            <a:srgbClr val="0B1F1A"/>
                          </a:solidFill>
                          <a:latin typeface="Calibri"/>
                        </a:rPr>
                        <a:t>Ingreso neto</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16.303 €</a:t>
                      </a:r>
                    </a:p>
                  </a:txBody>
                  <a:tcPr marL="82296" marR="82296" marT="54864" marB="54864">
                    <a:solidFill>
                      <a:srgbClr val="FFFFFF"/>
                    </a:solidFill>
                  </a:tcPr>
                </a:tc>
                <a:tc>
                  <a:txBody>
                    <a:bodyPr/>
                    <a:lstStyle/>
                    <a:p>
                      <a:pPr algn="r">
                        <a:lnSpc>
                          <a:spcPct val="100000"/>
                        </a:lnSpc>
                        <a:spcAft>
                          <a:spcPts val="0"/>
                        </a:spcAft>
                      </a:pPr>
                      <a:r>
                        <a:rPr sz="1100" b="0">
                          <a:solidFill>
                            <a:srgbClr val="2C4740"/>
                          </a:solidFill>
                          <a:latin typeface="Consolas"/>
                        </a:rPr>
                        <a:t>108.750 €</a:t>
                      </a:r>
                    </a:p>
                  </a:txBody>
                  <a:tcPr marL="82296" marR="82296" marT="54864" marB="54864">
                    <a:solidFill>
                      <a:srgbClr val="FFFFFF"/>
                    </a:solidFill>
                  </a:tcPr>
                </a:tc>
                <a:tc>
                  <a:txBody>
                    <a:bodyPr/>
                    <a:lstStyle/>
                    <a:p>
                      <a:pPr algn="l">
                        <a:lnSpc>
                          <a:spcPct val="100000"/>
                        </a:lnSpc>
                        <a:spcAft>
                          <a:spcPts val="0"/>
                        </a:spcAft>
                      </a:pPr>
                      <a:r>
                        <a:rPr sz="1100" b="1">
                          <a:solidFill>
                            <a:srgbClr val="0B1F1A"/>
                          </a:solidFill>
                          <a:latin typeface="Consolas"/>
                        </a:rPr>
                        <a:t>360.224 €</a:t>
                      </a:r>
                    </a:p>
                  </a:txBody>
                  <a:tcPr marL="82296" marR="82296" marT="54864" marB="54864">
                    <a:solidFill>
                      <a:srgbClr val="FFFFFF"/>
                    </a:solidFill>
                  </a:tcPr>
                </a:tc>
              </a:tr>
              <a:tr h="384048">
                <a:tc>
                  <a:txBody>
                    <a:bodyPr/>
                    <a:lstStyle/>
                    <a:p>
                      <a:pPr algn="l">
                        <a:lnSpc>
                          <a:spcPct val="100000"/>
                        </a:lnSpc>
                        <a:spcAft>
                          <a:spcPts val="0"/>
                        </a:spcAft>
                      </a:pPr>
                      <a:r>
                        <a:rPr sz="1100" b="1">
                          <a:solidFill>
                            <a:srgbClr val="0B1F1A"/>
                          </a:solidFill>
                          <a:latin typeface="Calibri"/>
                        </a:rPr>
                        <a:t>ARR a diciembre</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41.973 €</a:t>
                      </a:r>
                    </a:p>
                  </a:txBody>
                  <a:tcPr marL="82296" marR="82296" marT="54864" marB="54864">
                    <a:solidFill>
                      <a:srgbClr val="F7F8F6"/>
                    </a:solidFill>
                  </a:tcPr>
                </a:tc>
                <a:tc>
                  <a:txBody>
                    <a:bodyPr/>
                    <a:lstStyle/>
                    <a:p>
                      <a:pPr algn="r">
                        <a:lnSpc>
                          <a:spcPct val="100000"/>
                        </a:lnSpc>
                        <a:spcAft>
                          <a:spcPts val="0"/>
                        </a:spcAft>
                      </a:pPr>
                      <a:r>
                        <a:rPr sz="1100" b="0">
                          <a:solidFill>
                            <a:srgbClr val="2C4740"/>
                          </a:solidFill>
                          <a:latin typeface="Consolas"/>
                        </a:rPr>
                        <a:t>224.878 €</a:t>
                      </a:r>
                    </a:p>
                  </a:txBody>
                  <a:tcPr marL="82296" marR="82296" marT="54864" marB="54864">
                    <a:solidFill>
                      <a:srgbClr val="F7F8F6"/>
                    </a:solidFill>
                  </a:tcPr>
                </a:tc>
                <a:tc>
                  <a:txBody>
                    <a:bodyPr/>
                    <a:lstStyle/>
                    <a:p>
                      <a:pPr algn="l">
                        <a:lnSpc>
                          <a:spcPct val="100000"/>
                        </a:lnSpc>
                        <a:spcAft>
                          <a:spcPts val="0"/>
                        </a:spcAft>
                      </a:pPr>
                      <a:r>
                        <a:rPr sz="1100" b="1">
                          <a:solidFill>
                            <a:srgbClr val="0B1F1A"/>
                          </a:solidFill>
                          <a:latin typeface="Consolas"/>
                        </a:rPr>
                        <a:t>496.530 €</a:t>
                      </a:r>
                    </a:p>
                  </a:txBody>
                  <a:tcPr marL="82296" marR="82296" marT="54864" marB="54864">
                    <a:solidFill>
                      <a:srgbClr val="F7F8F6"/>
                    </a:solidFill>
                  </a:tcPr>
                </a:tc>
              </a:tr>
            </a:tbl>
          </a:graphicData>
        </a:graphic>
      </p:graphicFrame>
      <p:sp>
        <p:nvSpPr>
          <p:cNvPr id="5" name="Rounded Rectangle 4"/>
          <p:cNvSpPr/>
          <p:nvPr/>
        </p:nvSpPr>
        <p:spPr>
          <a:xfrm>
            <a:off x="658368" y="4160520"/>
            <a:ext cx="3474720" cy="146304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334256"/>
            <a:ext cx="3072384" cy="115214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PUNTO DE EQUILIBRIO</a:t>
            </a:r>
          </a:p>
          <a:p>
            <a:pPr algn="l">
              <a:lnSpc>
                <a:spcPct val="105000"/>
              </a:lnSpc>
              <a:spcAft>
                <a:spcPts val="500"/>
              </a:spcAft>
            </a:pPr>
            <a:r>
              <a:rPr sz="1300" b="1">
                <a:solidFill>
                  <a:srgbClr val="0B1F1A"/>
                </a:solidFill>
                <a:latin typeface="Calibri Light"/>
              </a:rPr>
              <a:t>Mayo de 2028</a:t>
            </a:r>
          </a:p>
          <a:p>
            <a:pPr algn="l">
              <a:lnSpc>
                <a:spcPct val="128000"/>
              </a:lnSpc>
              <a:spcAft>
                <a:spcPts val="0"/>
              </a:spcAft>
            </a:pPr>
            <a:r>
              <a:rPr sz="1100" b="0">
                <a:solidFill>
                  <a:srgbClr val="2C4740"/>
                </a:solidFill>
                <a:latin typeface="Calibri"/>
              </a:rPr>
              <a:t>Con 230.000 € de capital: 180.000 € de pre-seed más 50.000 € de préstamo ENISA no dilutivo.</a:t>
            </a:r>
          </a:p>
        </p:txBody>
      </p:sp>
      <p:sp>
        <p:nvSpPr>
          <p:cNvPr id="7" name="Rounded Rectangle 6"/>
          <p:cNvSpPr/>
          <p:nvPr/>
        </p:nvSpPr>
        <p:spPr>
          <a:xfrm>
            <a:off x="4361688" y="4160520"/>
            <a:ext cx="3474720" cy="146304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4334256"/>
            <a:ext cx="3072384" cy="115214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CUOTA DE MERCADO</a:t>
            </a:r>
          </a:p>
          <a:p>
            <a:pPr algn="l">
              <a:lnSpc>
                <a:spcPct val="105000"/>
              </a:lnSpc>
              <a:spcAft>
                <a:spcPts val="500"/>
              </a:spcAft>
            </a:pPr>
            <a:r>
              <a:rPr sz="1300" b="1">
                <a:solidFill>
                  <a:srgbClr val="0B1F1A"/>
                </a:solidFill>
                <a:latin typeface="Calibri Light"/>
              </a:rPr>
              <a:t>Menos del 0,01 % del SAM</a:t>
            </a:r>
          </a:p>
          <a:p>
            <a:pPr algn="l">
              <a:lnSpc>
                <a:spcPct val="128000"/>
              </a:lnSpc>
              <a:spcAft>
                <a:spcPts val="0"/>
              </a:spcAft>
            </a:pPr>
            <a:r>
              <a:rPr sz="1100" b="0">
                <a:solidFill>
                  <a:srgbClr val="2C4740"/>
                </a:solidFill>
                <a:latin typeface="Calibri"/>
              </a:rPr>
              <a:t>284 empresas en un mercado europeo de miles de millones. El techo no es el tamaño del mercado: es la ejecución.</a:t>
            </a:r>
          </a:p>
        </p:txBody>
      </p:sp>
      <p:sp>
        <p:nvSpPr>
          <p:cNvPr id="9" name="Rounded Rectangle 8"/>
          <p:cNvSpPr/>
          <p:nvPr/>
        </p:nvSpPr>
        <p:spPr>
          <a:xfrm>
            <a:off x="8065008" y="4160520"/>
            <a:ext cx="3474720" cy="1463040"/>
          </a:xfrm>
          <a:prstGeom prst="roundRect">
            <a:avLst>
              <a:gd name="adj" fmla="val 6000"/>
            </a:avLst>
          </a:prstGeom>
          <a:solidFill>
            <a:srgbClr val="FDF3E3"/>
          </a:solidFill>
          <a:ln w="952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6176" y="4334256"/>
            <a:ext cx="3072384" cy="1152144"/>
          </a:xfrm>
          <a:prstGeom prst="rect">
            <a:avLst/>
          </a:prstGeom>
          <a:noFill/>
        </p:spPr>
        <p:txBody>
          <a:bodyPr wrap="square" lIns="0" rIns="0" tIns="0" bIns="0" anchor="t">
            <a:spAutoFit/>
          </a:bodyPr>
          <a:lstStyle/>
          <a:p>
            <a:pPr algn="l">
              <a:lnSpc>
                <a:spcPct val="100000"/>
              </a:lnSpc>
              <a:spcAft>
                <a:spcPts val="600"/>
              </a:spcAft>
            </a:pPr>
            <a:r>
              <a:rPr sz="850" b="0" spc="130">
                <a:solidFill>
                  <a:srgbClr val="B45309"/>
                </a:solidFill>
                <a:latin typeface="Consolas"/>
              </a:rPr>
              <a:t>DÓNDE SE ROMPE</a:t>
            </a:r>
          </a:p>
          <a:p>
            <a:pPr algn="l">
              <a:lnSpc>
                <a:spcPct val="105000"/>
              </a:lnSpc>
              <a:spcAft>
                <a:spcPts val="500"/>
              </a:spcAft>
            </a:pPr>
            <a:r>
              <a:rPr sz="1300" b="1">
                <a:solidFill>
                  <a:srgbClr val="0B1F1A"/>
                </a:solidFill>
                <a:latin typeface="Calibri Light"/>
              </a:rPr>
              <a:t>El primer año</a:t>
            </a:r>
          </a:p>
          <a:p>
            <a:pPr algn="l">
              <a:lnSpc>
                <a:spcPct val="128000"/>
              </a:lnSpc>
              <a:spcAft>
                <a:spcPts val="0"/>
              </a:spcAft>
            </a:pPr>
            <a:r>
              <a:rPr sz="1100" b="0">
                <a:solidFill>
                  <a:srgbClr val="2C4740"/>
                </a:solidFill>
                <a:latin typeface="Calibri"/>
              </a:rPr>
              <a:t>2026 es validación pura: 24 empresas. Si el ritmo de altas no arranca, el resto del modelo no ocurre.</a:t>
            </a:r>
          </a:p>
        </p:txBody>
      </p:sp>
      <p:sp>
        <p:nvSpPr>
          <p:cNvPr id="11" name="TextBox 10"/>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EL NEGOCIO</a:t>
            </a:r>
          </a:p>
        </p:txBody>
      </p:sp>
      <p:sp>
        <p:nvSpPr>
          <p:cNvPr id="12" name="TextBox 11"/>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B45309"/>
                </a:solidFill>
                <a:latin typeface="Consolas"/>
              </a:rPr>
              <a:t>LO QUE TODAVÍA NO PODEMOS AFIRMAR</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Los cuatro límites de </a:t>
            </a:r>
            <a:r>
              <a:rPr sz="3400" b="1">
                <a:solidFill>
                  <a:srgbClr val="0E7C5A"/>
                </a:solidFill>
                <a:latin typeface="Calibri Light"/>
              </a:rPr>
              <a:t>este trabajo.</a:t>
            </a:r>
          </a:p>
        </p:txBody>
      </p:sp>
      <p:sp>
        <p:nvSpPr>
          <p:cNvPr id="4" name="Rounded Rectangle 3"/>
          <p:cNvSpPr/>
          <p:nvPr/>
        </p:nvSpPr>
        <p:spPr>
          <a:xfrm>
            <a:off x="658368" y="2194560"/>
            <a:ext cx="5349240" cy="148132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368296"/>
            <a:ext cx="4946904" cy="1170432"/>
          </a:xfrm>
          <a:prstGeom prst="rect">
            <a:avLst/>
          </a:prstGeom>
          <a:noFill/>
        </p:spPr>
        <p:txBody>
          <a:bodyPr wrap="square" lIns="0" rIns="0" tIns="0" bIns="0" anchor="t">
            <a:spAutoFit/>
          </a:bodyPr>
          <a:lstStyle/>
          <a:p>
            <a:pPr algn="l">
              <a:lnSpc>
                <a:spcPct val="100000"/>
              </a:lnSpc>
              <a:spcAft>
                <a:spcPts val="600"/>
              </a:spcAft>
            </a:pPr>
            <a:r>
              <a:rPr sz="850" b="0" spc="130">
                <a:solidFill>
                  <a:srgbClr val="B45309"/>
                </a:solidFill>
                <a:latin typeface="Consolas"/>
              </a:rPr>
              <a:t>RIESGO PRINCIPAL</a:t>
            </a:r>
          </a:p>
          <a:p>
            <a:pPr algn="l">
              <a:lnSpc>
                <a:spcPct val="105000"/>
              </a:lnSpc>
              <a:spcAft>
                <a:spcPts val="500"/>
              </a:spcAft>
            </a:pPr>
            <a:r>
              <a:rPr sz="1300" b="1">
                <a:solidFill>
                  <a:srgbClr val="0B1F1A"/>
                </a:solidFill>
                <a:latin typeface="Calibri Light"/>
              </a:rPr>
              <a:t>El Skill Score no está calibrado contra humanos</a:t>
            </a:r>
          </a:p>
          <a:p>
            <a:pPr algn="l">
              <a:lnSpc>
                <a:spcPct val="128000"/>
              </a:lnSpc>
              <a:spcAft>
                <a:spcPts val="0"/>
              </a:spcAft>
            </a:pPr>
            <a:r>
              <a:rPr sz="1100" b="0">
                <a:solidFill>
                  <a:srgbClr val="2C4740"/>
                </a:solidFill>
                <a:latin typeface="Calibri"/>
              </a:rPr>
              <a:t>La IA discrimina y es barata, pero no hemos contrastado sus notas con un tribunal de evaluadores. Hasta entonces no podemos vender esto como fiabilidad demostrada.</a:t>
            </a:r>
          </a:p>
        </p:txBody>
      </p:sp>
      <p:sp>
        <p:nvSpPr>
          <p:cNvPr id="6" name="Rectangle 5"/>
          <p:cNvSpPr/>
          <p:nvPr/>
        </p:nvSpPr>
        <p:spPr>
          <a:xfrm>
            <a:off x="658368" y="2194560"/>
            <a:ext cx="32004" cy="14813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90488" y="2194560"/>
            <a:ext cx="5349240" cy="148132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2368296"/>
            <a:ext cx="4946904" cy="1170432"/>
          </a:xfrm>
          <a:prstGeom prst="rect">
            <a:avLst/>
          </a:prstGeom>
          <a:noFill/>
        </p:spPr>
        <p:txBody>
          <a:bodyPr wrap="square" lIns="0" rIns="0" tIns="0" bIns="0" anchor="t">
            <a:spAutoFit/>
          </a:bodyPr>
          <a:lstStyle/>
          <a:p>
            <a:pPr algn="l">
              <a:lnSpc>
                <a:spcPct val="100000"/>
              </a:lnSpc>
              <a:spcAft>
                <a:spcPts val="600"/>
              </a:spcAft>
            </a:pPr>
            <a:r>
              <a:rPr sz="850" b="0" spc="130">
                <a:solidFill>
                  <a:srgbClr val="B45309"/>
                </a:solidFill>
                <a:latin typeface="Consolas"/>
              </a:rPr>
              <a:t>VALIDACIÓN DE MERCADO</a:t>
            </a:r>
          </a:p>
          <a:p>
            <a:pPr algn="l">
              <a:lnSpc>
                <a:spcPct val="105000"/>
              </a:lnSpc>
              <a:spcAft>
                <a:spcPts val="500"/>
              </a:spcAft>
            </a:pPr>
            <a:r>
              <a:rPr sz="1300" b="1">
                <a:solidFill>
                  <a:srgbClr val="0B1F1A"/>
                </a:solidFill>
                <a:latin typeface="Calibri Light"/>
              </a:rPr>
              <a:t>n ≈ 30, exploratorio</a:t>
            </a:r>
          </a:p>
          <a:p>
            <a:pPr algn="l">
              <a:lnSpc>
                <a:spcPct val="128000"/>
              </a:lnSpc>
              <a:spcAft>
                <a:spcPts val="0"/>
              </a:spcAft>
            </a:pPr>
            <a:r>
              <a:rPr sz="1100" b="0">
                <a:solidFill>
                  <a:srgbClr val="2C4740"/>
                </a:solidFill>
                <a:latin typeface="Calibri"/>
              </a:rPr>
              <a:t>El 90 % de interés viene de una muestra pequeña y autoseleccionada. Mide atención, no disposición a pagar. No hay encaje producto-mercado de pago.</a:t>
            </a:r>
          </a:p>
        </p:txBody>
      </p:sp>
      <p:sp>
        <p:nvSpPr>
          <p:cNvPr id="9" name="Rectangle 8"/>
          <p:cNvSpPr/>
          <p:nvPr/>
        </p:nvSpPr>
        <p:spPr>
          <a:xfrm>
            <a:off x="6190488" y="2194560"/>
            <a:ext cx="32004" cy="14813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3822192"/>
            <a:ext cx="5349240" cy="148132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95928"/>
            <a:ext cx="4946904" cy="1170432"/>
          </a:xfrm>
          <a:prstGeom prst="rect">
            <a:avLst/>
          </a:prstGeom>
          <a:noFill/>
        </p:spPr>
        <p:txBody>
          <a:bodyPr wrap="square" lIns="0" rIns="0" tIns="0" bIns="0" anchor="t">
            <a:spAutoFit/>
          </a:bodyPr>
          <a:lstStyle/>
          <a:p>
            <a:pPr algn="l">
              <a:lnSpc>
                <a:spcPct val="100000"/>
              </a:lnSpc>
              <a:spcAft>
                <a:spcPts val="600"/>
              </a:spcAft>
            </a:pPr>
            <a:r>
              <a:rPr sz="850" b="0" spc="130">
                <a:solidFill>
                  <a:srgbClr val="B45309"/>
                </a:solidFill>
                <a:latin typeface="Consolas"/>
              </a:rPr>
              <a:t>CONSISTENCIA DEL MODELO</a:t>
            </a:r>
          </a:p>
          <a:p>
            <a:pPr algn="l">
              <a:lnSpc>
                <a:spcPct val="105000"/>
              </a:lnSpc>
              <a:spcAft>
                <a:spcPts val="500"/>
              </a:spcAft>
            </a:pPr>
            <a:r>
              <a:rPr sz="1300" b="1">
                <a:solidFill>
                  <a:srgbClr val="0B1F1A"/>
                </a:solidFill>
                <a:latin typeface="Calibri Light"/>
              </a:rPr>
              <a:t>Varianza de ±8 a 12 puntos</a:t>
            </a:r>
          </a:p>
          <a:p>
            <a:pPr algn="l">
              <a:lnSpc>
                <a:spcPct val="128000"/>
              </a:lnSpc>
              <a:spcAft>
                <a:spcPts val="0"/>
              </a:spcAft>
            </a:pPr>
            <a:r>
              <a:rPr sz="1100" b="0">
                <a:solidFill>
                  <a:srgbClr val="2C4740"/>
                </a:solidFill>
                <a:latin typeface="Calibri"/>
              </a:rPr>
              <a:t>Las rúbricas con indicadores cualitativos producen desviaciones entre ejecuciones. Mitigado con temperatura cero, pero exige anclas numéricas observables.</a:t>
            </a:r>
          </a:p>
        </p:txBody>
      </p:sp>
      <p:sp>
        <p:nvSpPr>
          <p:cNvPr id="12" name="Rectangle 11"/>
          <p:cNvSpPr/>
          <p:nvPr/>
        </p:nvSpPr>
        <p:spPr>
          <a:xfrm>
            <a:off x="658368" y="3822192"/>
            <a:ext cx="32004" cy="14813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90488" y="3822192"/>
            <a:ext cx="5349240" cy="1481328"/>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1656" y="3995928"/>
            <a:ext cx="4946904" cy="1170432"/>
          </a:xfrm>
          <a:prstGeom prst="rect">
            <a:avLst/>
          </a:prstGeom>
          <a:noFill/>
        </p:spPr>
        <p:txBody>
          <a:bodyPr wrap="square" lIns="0" rIns="0" tIns="0" bIns="0" anchor="t">
            <a:spAutoFit/>
          </a:bodyPr>
          <a:lstStyle/>
          <a:p>
            <a:pPr algn="l">
              <a:lnSpc>
                <a:spcPct val="100000"/>
              </a:lnSpc>
              <a:spcAft>
                <a:spcPts val="600"/>
              </a:spcAft>
            </a:pPr>
            <a:r>
              <a:rPr sz="850" b="0" spc="130">
                <a:solidFill>
                  <a:srgbClr val="B45309"/>
                </a:solidFill>
                <a:latin typeface="Consolas"/>
              </a:rPr>
              <a:t>EFECTO RED</a:t>
            </a:r>
          </a:p>
          <a:p>
            <a:pPr algn="l">
              <a:lnSpc>
                <a:spcPct val="105000"/>
              </a:lnSpc>
              <a:spcAft>
                <a:spcPts val="500"/>
              </a:spcAft>
            </a:pPr>
            <a:r>
              <a:rPr sz="1300" b="1">
                <a:solidFill>
                  <a:srgbClr val="0B1F1A"/>
                </a:solidFill>
                <a:latin typeface="Calibri Light"/>
              </a:rPr>
              <a:t>El problema del huevo y la gallina</a:t>
            </a:r>
          </a:p>
          <a:p>
            <a:pPr algn="l">
              <a:lnSpc>
                <a:spcPct val="128000"/>
              </a:lnSpc>
              <a:spcAft>
                <a:spcPts val="0"/>
              </a:spcAft>
            </a:pPr>
            <a:r>
              <a:rPr sz="1100" b="0">
                <a:solidFill>
                  <a:srgbClr val="2C4740"/>
                </a:solidFill>
                <a:latin typeface="Calibri"/>
              </a:rPr>
              <a:t>Las empresas no entran sin candidatos y los candidatos se van sin ofertas. Es el riesgo estructural de cualquier marketplace y no se resuelve con tecnología.</a:t>
            </a:r>
          </a:p>
        </p:txBody>
      </p:sp>
      <p:sp>
        <p:nvSpPr>
          <p:cNvPr id="15" name="Rectangle 14"/>
          <p:cNvSpPr/>
          <p:nvPr/>
        </p:nvSpPr>
        <p:spPr>
          <a:xfrm>
            <a:off x="6190488" y="3822192"/>
            <a:ext cx="32004" cy="14813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LÍMITES</a:t>
            </a:r>
          </a:p>
        </p:txBody>
      </p:sp>
      <p:sp>
        <p:nvSpPr>
          <p:cNvPr id="17" name="TextBox 16"/>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6"/>
        </a:solidFill>
        <a:effectLst/>
      </p:bgPr>
    </p:bg>
    <p:spTree>
      <p:nvGrpSpPr>
        <p:cNvPr id="1" name=""/>
        <p:cNvGrpSpPr/>
        <p:nvPr/>
      </p:nvGrpSpPr>
      <p:grpSpPr/>
      <p:sp>
        <p:nvSpPr>
          <p:cNvPr id="2" name="TextBox 1"/>
          <p:cNvSpPr txBox="1"/>
          <p:nvPr/>
        </p:nvSpPr>
        <p:spPr>
          <a:xfrm>
            <a:off x="658368" y="566928"/>
            <a:ext cx="10881360" cy="237744"/>
          </a:xfrm>
          <a:prstGeom prst="rect">
            <a:avLst/>
          </a:prstGeom>
          <a:noFill/>
        </p:spPr>
        <p:txBody>
          <a:bodyPr wrap="square" lIns="0" rIns="0" tIns="0" bIns="0" anchor="t">
            <a:spAutoFit/>
          </a:bodyPr>
          <a:lstStyle/>
          <a:p>
            <a:pPr algn="l">
              <a:lnSpc>
                <a:spcPct val="100000"/>
              </a:lnSpc>
              <a:spcAft>
                <a:spcPts val="0"/>
              </a:spcAft>
            </a:pPr>
            <a:r>
              <a:rPr sz="1050" b="0" spc="160">
                <a:solidFill>
                  <a:srgbClr val="0E7C5A"/>
                </a:solidFill>
                <a:latin typeface="Consolas"/>
              </a:rPr>
              <a:t>QUÉ VIENE DESPUÉS DE ESTA DEFENSA</a:t>
            </a:r>
          </a:p>
        </p:txBody>
      </p:sp>
      <p:sp>
        <p:nvSpPr>
          <p:cNvPr id="3" name="TextBox 2"/>
          <p:cNvSpPr txBox="1"/>
          <p:nvPr/>
        </p:nvSpPr>
        <p:spPr>
          <a:xfrm>
            <a:off x="658368" y="896112"/>
            <a:ext cx="10881360" cy="1051560"/>
          </a:xfrm>
          <a:prstGeom prst="rect">
            <a:avLst/>
          </a:prstGeom>
          <a:noFill/>
        </p:spPr>
        <p:txBody>
          <a:bodyPr wrap="square" lIns="0" rIns="0" tIns="0" bIns="0" anchor="t">
            <a:spAutoFit/>
          </a:bodyPr>
          <a:lstStyle/>
          <a:p>
            <a:pPr>
              <a:lnSpc>
                <a:spcPct val="98000"/>
              </a:lnSpc>
            </a:pPr>
            <a:r>
              <a:rPr sz="3400" b="1">
                <a:solidFill>
                  <a:srgbClr val="0B1F1A"/>
                </a:solidFill>
                <a:latin typeface="Calibri Light"/>
              </a:rPr>
              <a:t>El siguiente hito no es técnico: </a:t>
            </a:r>
            <a:r>
              <a:rPr sz="3400" b="1">
                <a:solidFill>
                  <a:srgbClr val="0E7C5A"/>
                </a:solidFill>
                <a:latin typeface="Calibri Light"/>
              </a:rPr>
              <a:t>es empírico.</a:t>
            </a:r>
          </a:p>
        </p:txBody>
      </p:sp>
      <p:sp>
        <p:nvSpPr>
          <p:cNvPr id="4" name="Rounded Rectangle 3"/>
          <p:cNvSpPr/>
          <p:nvPr/>
        </p:nvSpPr>
        <p:spPr>
          <a:xfrm>
            <a:off x="658368" y="2194560"/>
            <a:ext cx="3474720" cy="169164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368296"/>
            <a:ext cx="3072384"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PRIORIDAD ALTA</a:t>
            </a:r>
          </a:p>
          <a:p>
            <a:pPr algn="l">
              <a:lnSpc>
                <a:spcPct val="105000"/>
              </a:lnSpc>
              <a:spcAft>
                <a:spcPts val="500"/>
              </a:spcAft>
            </a:pPr>
            <a:r>
              <a:rPr sz="1300" b="1">
                <a:solidFill>
                  <a:srgbClr val="0B1F1A"/>
                </a:solidFill>
                <a:latin typeface="Calibri Light"/>
              </a:rPr>
              <a:t>Calibración humana</a:t>
            </a:r>
          </a:p>
          <a:p>
            <a:pPr algn="l">
              <a:lnSpc>
                <a:spcPct val="128000"/>
              </a:lnSpc>
              <a:spcAft>
                <a:spcPts val="0"/>
              </a:spcAft>
            </a:pPr>
            <a:r>
              <a:rPr sz="1100" b="0">
                <a:solidFill>
                  <a:srgbClr val="2C4740"/>
                </a:solidFill>
                <a:latin typeface="Calibri"/>
              </a:rPr>
              <a:t>Tribunal de evaluadores y medición de la concordancia. Es lo que convierte una PoC sólida en un producto certificable.</a:t>
            </a:r>
          </a:p>
        </p:txBody>
      </p:sp>
      <p:sp>
        <p:nvSpPr>
          <p:cNvPr id="6" name="Rounded Rectangle 5"/>
          <p:cNvSpPr/>
          <p:nvPr/>
        </p:nvSpPr>
        <p:spPr>
          <a:xfrm>
            <a:off x="4361688" y="2194560"/>
            <a:ext cx="3474720" cy="169164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2368296"/>
            <a:ext cx="3072384"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PRIORIDAD ALTA</a:t>
            </a:r>
          </a:p>
          <a:p>
            <a:pPr algn="l">
              <a:lnSpc>
                <a:spcPct val="105000"/>
              </a:lnSpc>
              <a:spcAft>
                <a:spcPts val="500"/>
              </a:spcAft>
            </a:pPr>
            <a:r>
              <a:rPr sz="1300" b="1">
                <a:solidFill>
                  <a:srgbClr val="0B1F1A"/>
                </a:solidFill>
                <a:latin typeface="Calibri Light"/>
              </a:rPr>
              <a:t>Segundo evaluador independiente</a:t>
            </a:r>
          </a:p>
          <a:p>
            <a:pPr algn="l">
              <a:lnSpc>
                <a:spcPct val="128000"/>
              </a:lnSpc>
              <a:spcAft>
                <a:spcPts val="0"/>
              </a:spcAft>
            </a:pPr>
            <a:r>
              <a:rPr sz="1100" b="0">
                <a:solidFill>
                  <a:srgbClr val="2C4740"/>
                </a:solidFill>
                <a:latin typeface="Calibri"/>
              </a:rPr>
              <a:t>Un modelo de otro proveedor como juez, para medir alucinación y reducir la dependencia de un único proveedor.</a:t>
            </a:r>
          </a:p>
        </p:txBody>
      </p:sp>
      <p:sp>
        <p:nvSpPr>
          <p:cNvPr id="8" name="Rounded Rectangle 7"/>
          <p:cNvSpPr/>
          <p:nvPr/>
        </p:nvSpPr>
        <p:spPr>
          <a:xfrm>
            <a:off x="8065008" y="2194560"/>
            <a:ext cx="3474720" cy="1691640"/>
          </a:xfrm>
          <a:prstGeom prst="roundRect">
            <a:avLst>
              <a:gd name="adj" fmla="val 6000"/>
            </a:avLst>
          </a:prstGeom>
          <a:solidFill>
            <a:srgbClr val="FFFFFF"/>
          </a:solidFill>
          <a:ln w="9525">
            <a:solidFill>
              <a:srgbClr val="DDE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6176" y="2368296"/>
            <a:ext cx="3072384" cy="1380744"/>
          </a:xfrm>
          <a:prstGeom prst="rect">
            <a:avLst/>
          </a:prstGeom>
          <a:noFill/>
        </p:spPr>
        <p:txBody>
          <a:bodyPr wrap="square" lIns="0" rIns="0" tIns="0" bIns="0" anchor="t">
            <a:spAutoFit/>
          </a:bodyPr>
          <a:lstStyle/>
          <a:p>
            <a:pPr algn="l">
              <a:lnSpc>
                <a:spcPct val="100000"/>
              </a:lnSpc>
              <a:spcAft>
                <a:spcPts val="600"/>
              </a:spcAft>
            </a:pPr>
            <a:r>
              <a:rPr sz="850" b="0" spc="130">
                <a:solidFill>
                  <a:srgbClr val="0E7C5A"/>
                </a:solidFill>
                <a:latin typeface="Consolas"/>
              </a:rPr>
              <a:t>PRIORIDAD MEDIA</a:t>
            </a:r>
          </a:p>
          <a:p>
            <a:pPr algn="l">
              <a:lnSpc>
                <a:spcPct val="105000"/>
              </a:lnSpc>
              <a:spcAft>
                <a:spcPts val="500"/>
              </a:spcAft>
            </a:pPr>
            <a:r>
              <a:rPr sz="1300" b="1">
                <a:solidFill>
                  <a:srgbClr val="0B1F1A"/>
                </a:solidFill>
                <a:latin typeface="Calibri Light"/>
              </a:rPr>
              <a:t>Producción</a:t>
            </a:r>
          </a:p>
          <a:p>
            <a:pPr algn="l">
              <a:lnSpc>
                <a:spcPct val="128000"/>
              </a:lnSpc>
              <a:spcAft>
                <a:spcPts val="0"/>
              </a:spcAft>
            </a:pPr>
            <a:r>
              <a:rPr sz="1100" b="0">
                <a:solidFill>
                  <a:srgbClr val="2C4740"/>
                </a:solidFill>
                <a:latin typeface="Calibri"/>
              </a:rPr>
              <a:t>Respuesta en streaming para bajar la latencia percibida, catálogo completo de retos y contrato en una L2.</a:t>
            </a:r>
          </a:p>
        </p:txBody>
      </p:sp>
      <p:sp>
        <p:nvSpPr>
          <p:cNvPr id="10" name="Rectangle 9"/>
          <p:cNvSpPr/>
          <p:nvPr/>
        </p:nvSpPr>
        <p:spPr>
          <a:xfrm>
            <a:off x="658368" y="4434840"/>
            <a:ext cx="32004" cy="566928"/>
          </a:xfrm>
          <a:prstGeom prst="rect">
            <a:avLst/>
          </a:prstGeom>
          <a:solidFill>
            <a:srgbClr val="0E7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407408"/>
            <a:ext cx="9601200" cy="640080"/>
          </a:xfrm>
          <a:prstGeom prst="rect">
            <a:avLst/>
          </a:prstGeom>
          <a:noFill/>
        </p:spPr>
        <p:txBody>
          <a:bodyPr wrap="square" lIns="0" rIns="0" tIns="0" bIns="0" anchor="t">
            <a:spAutoFit/>
          </a:bodyPr>
          <a:lstStyle/>
          <a:p>
            <a:pPr algn="l">
              <a:lnSpc>
                <a:spcPct val="120000"/>
              </a:lnSpc>
              <a:spcAft>
                <a:spcPts val="0"/>
              </a:spcAft>
            </a:pPr>
            <a:r>
              <a:rPr sz="1400" b="1">
                <a:solidFill>
                  <a:srgbClr val="0B1F1A"/>
                </a:solidFill>
                <a:latin typeface="Calibri Light"/>
              </a:rPr>
              <a:t>Lo que hoy es una arquitectura correcta y medida se convierte en un producto defendible el día que un humano confirme sus notas.</a:t>
            </a:r>
          </a:p>
        </p:txBody>
      </p:sp>
      <p:sp>
        <p:nvSpPr>
          <p:cNvPr id="12" name="TextBox 11"/>
          <p:cNvSpPr txBox="1"/>
          <p:nvPr/>
        </p:nvSpPr>
        <p:spPr>
          <a:xfrm>
            <a:off x="658368" y="6272784"/>
            <a:ext cx="5486400" cy="256032"/>
          </a:xfrm>
          <a:prstGeom prst="rect">
            <a:avLst/>
          </a:prstGeom>
          <a:noFill/>
        </p:spPr>
        <p:txBody>
          <a:bodyPr wrap="square" lIns="0" rIns="0" tIns="0" bIns="0" anchor="t">
            <a:spAutoFit/>
          </a:bodyPr>
          <a:lstStyle/>
          <a:p>
            <a:pPr algn="l">
              <a:lnSpc>
                <a:spcPct val="100000"/>
              </a:lnSpc>
              <a:spcAft>
                <a:spcPts val="0"/>
              </a:spcAft>
            </a:pPr>
            <a:r>
              <a:rPr sz="900" b="0" spc="120">
                <a:solidFill>
                  <a:srgbClr val="5A6B65"/>
                </a:solidFill>
                <a:latin typeface="Consolas"/>
              </a:rPr>
              <a:t>SIGUIENTES PASOS</a:t>
            </a:r>
          </a:p>
        </p:txBody>
      </p:sp>
      <p:sp>
        <p:nvSpPr>
          <p:cNvPr id="13" name="TextBox 12"/>
          <p:cNvSpPr txBox="1"/>
          <p:nvPr/>
        </p:nvSpPr>
        <p:spPr>
          <a:xfrm>
            <a:off x="10424160" y="6272784"/>
            <a:ext cx="1097280" cy="256032"/>
          </a:xfrm>
          <a:prstGeom prst="rect">
            <a:avLst/>
          </a:prstGeom>
          <a:noFill/>
        </p:spPr>
        <p:txBody>
          <a:bodyPr wrap="square" lIns="0" rIns="0" tIns="0" bIns="0" anchor="t">
            <a:spAutoFit/>
          </a:bodyPr>
          <a:lstStyle/>
          <a:p>
            <a:pPr algn="r">
              <a:lnSpc>
                <a:spcPct val="100000"/>
              </a:lnSpc>
              <a:spcAft>
                <a:spcPts val="0"/>
              </a:spcAft>
            </a:pPr>
            <a:r>
              <a:rPr sz="900" b="0">
                <a:solidFill>
                  <a:srgbClr val="5A6B65"/>
                </a:solidFill>
                <a:latin typeface="Consola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8221C"/>
        </a:solidFill>
        <a:effectLst/>
      </p:bgPr>
    </p:bg>
    <p:spTree>
      <p:nvGrpSpPr>
        <p:cNvPr id="1" name=""/>
        <p:cNvGrpSpPr/>
        <p:nvPr/>
      </p:nvGrpSpPr>
      <p:grpSpPr/>
      <p:sp>
        <p:nvSpPr>
          <p:cNvPr id="2" name="TextBox 1"/>
          <p:cNvSpPr txBox="1"/>
          <p:nvPr/>
        </p:nvSpPr>
        <p:spPr>
          <a:xfrm>
            <a:off x="658368" y="566928"/>
            <a:ext cx="10881360" cy="274320"/>
          </a:xfrm>
          <a:prstGeom prst="rect">
            <a:avLst/>
          </a:prstGeom>
          <a:noFill/>
        </p:spPr>
        <p:txBody>
          <a:bodyPr wrap="square" lIns="0" rIns="0" tIns="0" bIns="0" anchor="t">
            <a:spAutoFit/>
          </a:bodyPr>
          <a:lstStyle/>
          <a:p>
            <a:r>
              <a:rPr sz="1400" b="1">
                <a:solidFill>
                  <a:srgbClr val="EAF5F0"/>
                </a:solidFill>
                <a:latin typeface="Calibri Light"/>
              </a:rPr>
              <a:t>talent</a:t>
            </a:r>
            <a:r>
              <a:rPr sz="1400" b="1">
                <a:solidFill>
                  <a:srgbClr val="34D399"/>
                </a:solidFill>
                <a:latin typeface="Calibri Light"/>
              </a:rPr>
              <a:t>pact</a:t>
            </a:r>
          </a:p>
        </p:txBody>
      </p:sp>
      <p:sp>
        <p:nvSpPr>
          <p:cNvPr id="3" name="TextBox 2"/>
          <p:cNvSpPr txBox="1"/>
          <p:nvPr/>
        </p:nvSpPr>
        <p:spPr>
          <a:xfrm>
            <a:off x="658368" y="1691640"/>
            <a:ext cx="9875520" cy="1051560"/>
          </a:xfrm>
          <a:prstGeom prst="rect">
            <a:avLst/>
          </a:prstGeom>
          <a:noFill/>
        </p:spPr>
        <p:txBody>
          <a:bodyPr wrap="square" lIns="0" rIns="0" tIns="0" bIns="0" anchor="t">
            <a:spAutoFit/>
          </a:bodyPr>
          <a:lstStyle/>
          <a:p>
            <a:pPr>
              <a:lnSpc>
                <a:spcPct val="98000"/>
              </a:lnSpc>
            </a:pPr>
            <a:r>
              <a:rPr sz="3800" b="1">
                <a:solidFill>
                  <a:srgbClr val="EAF5F0"/>
                </a:solidFill>
                <a:latin typeface="Calibri Light"/>
              </a:rPr>
              <a:t>Hemos construido la pieza que hacía falta demostrar.</a:t>
            </a:r>
          </a:p>
        </p:txBody>
      </p:sp>
      <p:sp>
        <p:nvSpPr>
          <p:cNvPr id="4" name="TextBox 3"/>
          <p:cNvSpPr txBox="1"/>
          <p:nvPr/>
        </p:nvSpPr>
        <p:spPr>
          <a:xfrm>
            <a:off x="658368" y="3154680"/>
            <a:ext cx="3383280" cy="1371600"/>
          </a:xfrm>
          <a:prstGeom prst="rect">
            <a:avLst/>
          </a:prstGeom>
          <a:noFill/>
        </p:spPr>
        <p:txBody>
          <a:bodyPr wrap="square" lIns="0" rIns="0" tIns="0" bIns="0" anchor="t">
            <a:spAutoFit/>
          </a:bodyPr>
          <a:lstStyle/>
          <a:p>
            <a:pPr>
              <a:lnSpc>
                <a:spcPct val="92000"/>
              </a:lnSpc>
            </a:pPr>
            <a:r>
              <a:rPr sz="3800" b="1">
                <a:solidFill>
                  <a:srgbClr val="34D399"/>
                </a:solidFill>
                <a:latin typeface="Calibri Light"/>
              </a:rPr>
              <a:t>0,014</a:t>
            </a:r>
            <a:r>
              <a:rPr sz="1900" b="1">
                <a:solidFill>
                  <a:srgbClr val="5A6B65"/>
                </a:solidFill>
                <a:latin typeface="Calibri Light"/>
              </a:rPr>
              <a:t> €</a:t>
            </a:r>
          </a:p>
          <a:p>
            <a:pPr algn="l">
              <a:lnSpc>
                <a:spcPct val="125000"/>
              </a:lnSpc>
              <a:spcAft>
                <a:spcPts val="200"/>
              </a:spcAft>
            </a:pPr>
            <a:r>
              <a:rPr sz="1050" b="0">
                <a:solidFill>
                  <a:srgbClr val="9CBBB0"/>
                </a:solidFill>
                <a:latin typeface="Calibri"/>
              </a:rPr>
              <a:t>por evaluación, medido en producción</a:t>
            </a:r>
          </a:p>
        </p:txBody>
      </p:sp>
      <p:sp>
        <p:nvSpPr>
          <p:cNvPr id="5" name="TextBox 4"/>
          <p:cNvSpPr txBox="1"/>
          <p:nvPr/>
        </p:nvSpPr>
        <p:spPr>
          <a:xfrm>
            <a:off x="4361688" y="3154680"/>
            <a:ext cx="3383280" cy="1371600"/>
          </a:xfrm>
          <a:prstGeom prst="rect">
            <a:avLst/>
          </a:prstGeom>
          <a:noFill/>
        </p:spPr>
        <p:txBody>
          <a:bodyPr wrap="square" lIns="0" rIns="0" tIns="0" bIns="0" anchor="t">
            <a:spAutoFit/>
          </a:bodyPr>
          <a:lstStyle/>
          <a:p>
            <a:pPr>
              <a:lnSpc>
                <a:spcPct val="92000"/>
              </a:lnSpc>
            </a:pPr>
            <a:r>
              <a:rPr sz="3800" b="1">
                <a:solidFill>
                  <a:srgbClr val="34D399"/>
                </a:solidFill>
                <a:latin typeface="Calibri Light"/>
              </a:rPr>
              <a:t>83</a:t>
            </a:r>
            <a:r>
              <a:rPr sz="1900" b="1">
                <a:solidFill>
                  <a:srgbClr val="5A6B65"/>
                </a:solidFill>
                <a:latin typeface="Calibri Light"/>
              </a:rPr>
              <a:t> pts</a:t>
            </a:r>
          </a:p>
          <a:p>
            <a:pPr algn="l">
              <a:lnSpc>
                <a:spcPct val="125000"/>
              </a:lnSpc>
              <a:spcAft>
                <a:spcPts val="200"/>
              </a:spcAft>
            </a:pPr>
            <a:r>
              <a:rPr sz="1050" b="0">
                <a:solidFill>
                  <a:srgbClr val="9CBBB0"/>
                </a:solidFill>
                <a:latin typeface="Calibri"/>
              </a:rPr>
              <a:t>de discriminación entre una respuesta senior y un fraude</a:t>
            </a:r>
          </a:p>
        </p:txBody>
      </p:sp>
      <p:sp>
        <p:nvSpPr>
          <p:cNvPr id="6" name="TextBox 5"/>
          <p:cNvSpPr txBox="1"/>
          <p:nvPr/>
        </p:nvSpPr>
        <p:spPr>
          <a:xfrm>
            <a:off x="8065008" y="3154680"/>
            <a:ext cx="3383280" cy="1371600"/>
          </a:xfrm>
          <a:prstGeom prst="rect">
            <a:avLst/>
          </a:prstGeom>
          <a:noFill/>
        </p:spPr>
        <p:txBody>
          <a:bodyPr wrap="square" lIns="0" rIns="0" tIns="0" bIns="0" anchor="t">
            <a:spAutoFit/>
          </a:bodyPr>
          <a:lstStyle/>
          <a:p>
            <a:pPr>
              <a:lnSpc>
                <a:spcPct val="92000"/>
              </a:lnSpc>
            </a:pPr>
            <a:r>
              <a:rPr sz="3800" b="1">
                <a:solidFill>
                  <a:srgbClr val="34D399"/>
                </a:solidFill>
                <a:latin typeface="Calibri Light"/>
              </a:rPr>
              <a:t>100</a:t>
            </a:r>
            <a:r>
              <a:rPr sz="1900" b="1">
                <a:solidFill>
                  <a:srgbClr val="5A6B65"/>
                </a:solidFill>
                <a:latin typeface="Calibri Light"/>
              </a:rPr>
              <a:t> %</a:t>
            </a:r>
          </a:p>
          <a:p>
            <a:pPr algn="l">
              <a:lnSpc>
                <a:spcPct val="125000"/>
              </a:lnSpc>
              <a:spcAft>
                <a:spcPts val="200"/>
              </a:spcAft>
            </a:pPr>
            <a:r>
              <a:rPr sz="1050" b="0">
                <a:solidFill>
                  <a:srgbClr val="9CBBB0"/>
                </a:solidFill>
                <a:latin typeface="Calibri"/>
              </a:rPr>
              <a:t>de los intentos de manipulación, detectados</a:t>
            </a:r>
          </a:p>
        </p:txBody>
      </p:sp>
      <p:sp>
        <p:nvSpPr>
          <p:cNvPr id="7" name="TextBox 6"/>
          <p:cNvSpPr txBox="1"/>
          <p:nvPr/>
        </p:nvSpPr>
        <p:spPr>
          <a:xfrm>
            <a:off x="658368" y="4617720"/>
            <a:ext cx="8778240" cy="548640"/>
          </a:xfrm>
          <a:prstGeom prst="rect">
            <a:avLst/>
          </a:prstGeom>
          <a:noFill/>
        </p:spPr>
        <p:txBody>
          <a:bodyPr wrap="square" lIns="0" rIns="0" tIns="0" bIns="0" anchor="t">
            <a:spAutoFit/>
          </a:bodyPr>
          <a:lstStyle/>
          <a:p>
            <a:pPr algn="l">
              <a:lnSpc>
                <a:spcPct val="135000"/>
              </a:lnSpc>
              <a:spcAft>
                <a:spcPts val="0"/>
              </a:spcAft>
            </a:pPr>
            <a:r>
              <a:rPr sz="1400" b="0">
                <a:solidFill>
                  <a:srgbClr val="9CBBB0"/>
                </a:solidFill>
                <a:latin typeface="Calibri"/>
              </a:rPr>
              <a:t>Y un sello que cualquiera puede verificar hoy, en un contrato público, sin pedirnos permiso ni fiarse de nosotros.</a:t>
            </a:r>
          </a:p>
        </p:txBody>
      </p:sp>
      <p:sp>
        <p:nvSpPr>
          <p:cNvPr id="8" name="Rectangle 7"/>
          <p:cNvSpPr/>
          <p:nvPr/>
        </p:nvSpPr>
        <p:spPr>
          <a:xfrm>
            <a:off x="658368" y="5440680"/>
            <a:ext cx="10881360" cy="10972"/>
          </a:xfrm>
          <a:prstGeom prst="rect">
            <a:avLst/>
          </a:prstGeom>
          <a:solidFill>
            <a:srgbClr val="2A50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669280"/>
            <a:ext cx="9144000" cy="640080"/>
          </a:xfrm>
          <a:prstGeom prst="rect">
            <a:avLst/>
          </a:prstGeom>
          <a:noFill/>
        </p:spPr>
        <p:txBody>
          <a:bodyPr wrap="square" lIns="0" rIns="0" tIns="0" bIns="0" anchor="t">
            <a:spAutoFit/>
          </a:bodyPr>
          <a:lstStyle/>
          <a:p>
            <a:pPr algn="l">
              <a:lnSpc>
                <a:spcPct val="100000"/>
              </a:lnSpc>
              <a:spcAft>
                <a:spcPts val="400"/>
              </a:spcAft>
            </a:pPr>
            <a:r>
              <a:rPr sz="850" b="0" spc="140">
                <a:solidFill>
                  <a:srgbClr val="6E9587"/>
                </a:solidFill>
                <a:latin typeface="Consolas"/>
              </a:rPr>
              <a:t>GRACIAS</a:t>
            </a:r>
          </a:p>
          <a:p>
            <a:pPr algn="l">
              <a:lnSpc>
                <a:spcPct val="100000"/>
              </a:lnSpc>
              <a:spcAft>
                <a:spcPts val="0"/>
              </a:spcAft>
            </a:pPr>
            <a:r>
              <a:rPr sz="1100" b="1">
                <a:solidFill>
                  <a:srgbClr val="EAF5F0"/>
                </a:solidFill>
                <a:latin typeface="Calibri"/>
              </a:rPr>
              <a:t>Xavier Griñó · Ivan Sánchez — quedamos a vuestra disposición para preguntas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